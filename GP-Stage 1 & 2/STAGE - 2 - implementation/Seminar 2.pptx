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27"/>
  </p:notesMasterIdLst>
  <p:handoutMasterIdLst>
    <p:handoutMasterId r:id="rId28"/>
  </p:handoutMasterIdLst>
  <p:sldIdLst>
    <p:sldId id="314" r:id="rId5"/>
    <p:sldId id="315" r:id="rId6"/>
    <p:sldId id="317" r:id="rId7"/>
    <p:sldId id="336" r:id="rId8"/>
    <p:sldId id="318" r:id="rId9"/>
    <p:sldId id="326" r:id="rId10"/>
    <p:sldId id="320" r:id="rId11"/>
    <p:sldId id="319" r:id="rId12"/>
    <p:sldId id="321" r:id="rId13"/>
    <p:sldId id="322" r:id="rId14"/>
    <p:sldId id="323" r:id="rId15"/>
    <p:sldId id="324" r:id="rId16"/>
    <p:sldId id="327" r:id="rId17"/>
    <p:sldId id="328" r:id="rId18"/>
    <p:sldId id="329" r:id="rId19"/>
    <p:sldId id="330" r:id="rId20"/>
    <p:sldId id="331" r:id="rId21"/>
    <p:sldId id="332" r:id="rId22"/>
    <p:sldId id="333" r:id="rId23"/>
    <p:sldId id="334" r:id="rId24"/>
    <p:sldId id="335" r:id="rId25"/>
    <p:sldId id="309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9" autoAdjust="0"/>
    <p:restoredTop sz="95388" autoAdjust="0"/>
  </p:normalViewPr>
  <p:slideViewPr>
    <p:cSldViewPr snapToGrid="0">
      <p:cViewPr varScale="1">
        <p:scale>
          <a:sx n="69" d="100"/>
          <a:sy n="69" d="100"/>
        </p:scale>
        <p:origin x="738" y="66"/>
      </p:cViewPr>
      <p:guideLst>
        <p:guide orient="horz" pos="3360"/>
        <p:guide pos="3840"/>
      </p:guideLst>
    </p:cSldViewPr>
  </p:slideViewPr>
  <p:outlineViewPr>
    <p:cViewPr>
      <p:scale>
        <a:sx n="33" d="100"/>
        <a:sy n="33" d="100"/>
      </p:scale>
      <p:origin x="0" y="-1267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52A77B-D33C-49B3-A83C-450AA2ED72B3}" type="datetimeFigureOut">
              <a:rPr lang="en-US" smtClean="0"/>
              <a:t>4/8/2026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9A36D-7FAC-478F-9944-F324014F6F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8D8F9A-F5CB-4EF8-A859-ED5E107B9763}" type="datetimeFigureOut">
              <a:rPr lang="en-US" smtClean="0"/>
              <a:t>4/8/2026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9A9E5-4F7F-4A7D-9DE1-8992323292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91378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89693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60335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0D98D-AF9A-ADF8-6DF2-BE46EA774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1AF59A-FA33-3B25-0178-8428A8018F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70CF9C-6371-5E38-50A8-BA08D3649C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B318D4-6FF9-F4AE-A101-479B8BCBD8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8771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12420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DBD9DF-6237-2FC2-6571-4DA2A57D5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EEAE25-9D6F-FD2A-242D-DDCD3AD91D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728EA1-42EC-543E-382D-1F76576575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2CB082-E602-FE2A-BDBD-A375FF2685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30028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51265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64728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42295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5656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00108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92382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03DDC-EE18-400C-E33C-D45F0C12E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BAF818-C149-A45F-C02B-5095FB0591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B2A396-B48B-981E-24DC-1AD246EFF4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FFFB3E-AE02-0E1D-E950-89C4E344F8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37186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66533-C0DE-E352-EE02-9AB5C740D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4DD642-111C-F1FC-87BA-376FB84229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A7DD87-74B3-05C6-31C4-24DB1692BE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830CEC-AA6E-0524-4E10-E62091C1C5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88957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2834D-4BF3-645E-4FDB-6C57CBFA0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8FF47A-4ABC-3E14-EE63-92947BD0E5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14BF51-A844-9B72-5DEF-99B01BC3ED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77A8E1-B4D9-967F-AC0F-8D758C5CD6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6568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98A17-5953-2CE1-E24E-7B6CBEA23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738F9B-8219-FC32-3A98-02AB7D7D8B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A85860-65C4-07A8-DF9F-E72E9087FC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B89964-2121-BD24-05B8-816B33EF25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83275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6CA65F-785F-BC60-3A76-42B6789D6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07793C-8027-F28A-C40D-212C6BBB8B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577E89-B0BF-9A9C-7523-F2DAEC6248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A336D1-7C78-8DAF-7E09-602A1DD41F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927309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727E4-6CF0-D592-0880-8F89C806C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C68005-3B15-283E-5F74-8EA211C578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AA94CD-03B2-8C55-5425-DF8244AE9C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9459A1-FEF6-33E4-E8C0-C7426D85D7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35627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04FA2-E2B7-F073-D8BD-9A5166D63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FDDA36-BCEE-421B-54F4-4C08DAD916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1CB649-2BB4-0423-42FC-71028DA27E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DFEDDD-2C37-EB0A-890B-F2B13942A5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268772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22A9DB-3A0D-ECFA-E1B9-E366B8E6C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42341D-A141-103E-A45B-849D6DC3F4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FD9E0D-6210-3B26-EC38-E1A97E63C3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A05B73-6F4D-AEAB-A5C8-8551A6761D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289426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F9CAD-411E-6993-7871-DCC38C5A1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1BD6A2-099A-7C80-F27E-6858082FB7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6D5BAF-AB83-3267-46D3-76F6D6C5E9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87E35C-53D2-998E-875A-13E0E86CB0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546836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99665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74996-9779-1D0F-B5C6-7FE85FFF1E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773681"/>
            <a:ext cx="5674360" cy="3200400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6B97173-A601-1D66-1651-4FE0D76A0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8454" t="1728"/>
          <a:stretch/>
        </p:blipFill>
        <p:spPr>
          <a:xfrm>
            <a:off x="-1" y="0"/>
            <a:ext cx="8264995" cy="5320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847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0DFB311A-EAAD-7656-C753-E8C739948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4533" t="18691" r="1" b="-131"/>
          <a:stretch/>
        </p:blipFill>
        <p:spPr>
          <a:xfrm rot="5400000">
            <a:off x="7851419" y="-1244552"/>
            <a:ext cx="3096029" cy="5585137"/>
          </a:xfrm>
          <a:custGeom>
            <a:avLst/>
            <a:gdLst>
              <a:gd name="connsiteX0" fmla="*/ 0 w 1756624"/>
              <a:gd name="connsiteY0" fmla="*/ 0 h 6858000"/>
              <a:gd name="connsiteX1" fmla="*/ 1756624 w 1756624"/>
              <a:gd name="connsiteY1" fmla="*/ 0 h 6858000"/>
              <a:gd name="connsiteX2" fmla="*/ 1756624 w 1756624"/>
              <a:gd name="connsiteY2" fmla="*/ 6858000 h 6858000"/>
              <a:gd name="connsiteX3" fmla="*/ 0 w 175662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6624" h="6858000">
                <a:moveTo>
                  <a:pt x="0" y="0"/>
                </a:moveTo>
                <a:lnTo>
                  <a:pt x="1756624" y="0"/>
                </a:lnTo>
                <a:lnTo>
                  <a:pt x="17566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1612F0DE-D367-10BB-1F71-60AA6527CA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151" r="18577"/>
          <a:stretch/>
        </p:blipFill>
        <p:spPr>
          <a:xfrm>
            <a:off x="7010400" y="0"/>
            <a:ext cx="51816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4F5799-FC34-2F2D-D11E-9B472CAF06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315533"/>
            <a:ext cx="5181600" cy="237686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575025C-084B-CD7A-F546-0E13BA13CFEF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400" y="2844800"/>
            <a:ext cx="5181600" cy="3128963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2000"/>
            </a:lvl1pPr>
            <a:lvl2pPr>
              <a:lnSpc>
                <a:spcPct val="120000"/>
              </a:lnSpc>
              <a:defRPr sz="1800"/>
            </a:lvl2pPr>
            <a:lvl3pPr>
              <a:lnSpc>
                <a:spcPct val="120000"/>
              </a:lnSpc>
              <a:defRPr sz="1600"/>
            </a:lvl3pPr>
            <a:lvl4pPr>
              <a:lnSpc>
                <a:spcPct val="120000"/>
              </a:lnSpc>
              <a:defRPr sz="1400"/>
            </a:lvl4pPr>
            <a:lvl5pPr>
              <a:lnSpc>
                <a:spcPct val="120000"/>
              </a:lnSpc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8750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B5DE041D-A3BF-94FF-029C-719D4DADA2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3300" t="13815"/>
          <a:stretch/>
        </p:blipFill>
        <p:spPr>
          <a:xfrm>
            <a:off x="0" y="-1"/>
            <a:ext cx="4239206" cy="37761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EE605D-0584-F71C-A97D-B672F13E39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580640"/>
            <a:ext cx="5181600" cy="3368819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59AF635C-89E6-F6EF-FA6A-417A9A84BF4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85840" y="-10159"/>
            <a:ext cx="6116320" cy="6868160"/>
          </a:xfrm>
          <a:custGeom>
            <a:avLst/>
            <a:gdLst>
              <a:gd name="connsiteX0" fmla="*/ 0 w 6116320"/>
              <a:gd name="connsiteY0" fmla="*/ 0 h 6880225"/>
              <a:gd name="connsiteX1" fmla="*/ 6116320 w 6116320"/>
              <a:gd name="connsiteY1" fmla="*/ 0 h 6880225"/>
              <a:gd name="connsiteX2" fmla="*/ 6116320 w 6116320"/>
              <a:gd name="connsiteY2" fmla="*/ 6880225 h 6880225"/>
              <a:gd name="connsiteX3" fmla="*/ 0 w 6116320"/>
              <a:gd name="connsiteY3" fmla="*/ 6880225 h 6880225"/>
              <a:gd name="connsiteX4" fmla="*/ 0 w 6116320"/>
              <a:gd name="connsiteY4" fmla="*/ 0 h 6880225"/>
              <a:gd name="connsiteX0" fmla="*/ 0 w 6116320"/>
              <a:gd name="connsiteY0" fmla="*/ 0 h 6880225"/>
              <a:gd name="connsiteX1" fmla="*/ 6116320 w 6116320"/>
              <a:gd name="connsiteY1" fmla="*/ 0 h 6880225"/>
              <a:gd name="connsiteX2" fmla="*/ 6116320 w 6116320"/>
              <a:gd name="connsiteY2" fmla="*/ 6880225 h 6880225"/>
              <a:gd name="connsiteX3" fmla="*/ 2052320 w 6116320"/>
              <a:gd name="connsiteY3" fmla="*/ 6880225 h 6880225"/>
              <a:gd name="connsiteX4" fmla="*/ 0 w 6116320"/>
              <a:gd name="connsiteY4" fmla="*/ 0 h 6880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16320" h="6880225">
                <a:moveTo>
                  <a:pt x="0" y="0"/>
                </a:moveTo>
                <a:lnTo>
                  <a:pt x="6116320" y="0"/>
                </a:lnTo>
                <a:lnTo>
                  <a:pt x="6116320" y="6880225"/>
                </a:lnTo>
                <a:lnTo>
                  <a:pt x="2052320" y="6880225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736789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2B74EE53-DB22-C27E-074F-A7129585F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5158" t="-5374" b="78533"/>
          <a:stretch/>
        </p:blipFill>
        <p:spPr>
          <a:xfrm rot="10800000">
            <a:off x="6324600" y="0"/>
            <a:ext cx="5867400" cy="164732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78AEF0C-FA4B-8C23-0132-5529EC244F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0" y="1310639"/>
            <a:ext cx="4805997" cy="2689629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B3DD4867-9B0B-647C-1F78-5E50BF30F08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016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05384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405384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BFF4D65D-965A-5E86-4D91-C72D1D03A8B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26163" y="4172990"/>
            <a:ext cx="4805997" cy="2389736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6365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04C9F686-E069-3B60-9625-01EE6A41D7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5239"/>
          <a:stretch/>
        </p:blipFill>
        <p:spPr>
          <a:xfrm flipH="1">
            <a:off x="9135414" y="0"/>
            <a:ext cx="3056586" cy="6858000"/>
          </a:xfrm>
          <a:custGeom>
            <a:avLst/>
            <a:gdLst>
              <a:gd name="connsiteX0" fmla="*/ 4284372 w 4284372"/>
              <a:gd name="connsiteY0" fmla="*/ 0 h 6858000"/>
              <a:gd name="connsiteX1" fmla="*/ 0 w 4284372"/>
              <a:gd name="connsiteY1" fmla="*/ 0 h 6858000"/>
              <a:gd name="connsiteX2" fmla="*/ 0 w 4284372"/>
              <a:gd name="connsiteY2" fmla="*/ 6858000 h 6858000"/>
              <a:gd name="connsiteX3" fmla="*/ 4284372 w 428437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84372" h="6858000">
                <a:moveTo>
                  <a:pt x="4284372" y="0"/>
                </a:moveTo>
                <a:lnTo>
                  <a:pt x="0" y="0"/>
                </a:lnTo>
                <a:lnTo>
                  <a:pt x="0" y="6858000"/>
                </a:lnTo>
                <a:lnTo>
                  <a:pt x="4284372" y="6858000"/>
                </a:lnTo>
                <a:close/>
              </a:path>
            </a:pathLst>
          </a:cu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D7227F9-50F9-820B-69B7-924C02120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2330"/>
          <a:stretch/>
        </p:blipFill>
        <p:spPr>
          <a:xfrm>
            <a:off x="7810500" y="3025140"/>
            <a:ext cx="4381500" cy="38328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48D1E69-316E-A8E1-7ADA-040A0E4907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7273637" cy="1646555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1069CA0-E0AB-99C6-10DB-13AAC019DD7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11363"/>
            <a:ext cx="7273638" cy="4155757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5213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left Imag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4589277D-BC14-E7E0-5822-5575F563E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6200000">
            <a:off x="8039100" y="228600"/>
            <a:ext cx="4381500" cy="39243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DB1BDE-C8F3-ACC0-740B-CBD812877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375285"/>
            <a:ext cx="4896678" cy="3624984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28597A3-47D0-F393-55D9-07FFD951F39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586 w 6096586"/>
              <a:gd name="connsiteY0" fmla="*/ 0 h 6858000"/>
              <a:gd name="connsiteX1" fmla="*/ 4054426 w 6096586"/>
              <a:gd name="connsiteY1" fmla="*/ 0 h 6858000"/>
              <a:gd name="connsiteX2" fmla="*/ 6096586 w 6096586"/>
              <a:gd name="connsiteY2" fmla="*/ 6858000 h 6858000"/>
              <a:gd name="connsiteX3" fmla="*/ 586 w 6096586"/>
              <a:gd name="connsiteY3" fmla="*/ 6858000 h 6858000"/>
              <a:gd name="connsiteX4" fmla="*/ 586 w 6096586"/>
              <a:gd name="connsiteY4" fmla="*/ 3669792 h 6858000"/>
              <a:gd name="connsiteX5" fmla="*/ 586 w 6096586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4053840" y="0"/>
                </a:lnTo>
                <a:lnTo>
                  <a:pt x="6096000" y="6858000"/>
                </a:lnTo>
                <a:lnTo>
                  <a:pt x="950976" y="6858000"/>
                </a:lnTo>
                <a:lnTo>
                  <a:pt x="0" y="3669792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4BF260CE-C6E3-AE7A-DB8E-A72A1CF5B54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096000" y="4172990"/>
            <a:ext cx="4896677" cy="2309726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bg1"/>
                </a:solidFill>
              </a:defRPr>
            </a:lvl1pPr>
            <a:lvl2pPr marL="7429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001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9111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6E20435-B9A5-359D-133D-5D3EED409C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955" t="41988" r="53993" b="33420"/>
          <a:stretch/>
        </p:blipFill>
        <p:spPr>
          <a:xfrm rot="10800000">
            <a:off x="9198864" y="-5"/>
            <a:ext cx="2993136" cy="151790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B99CAE4-AA9B-52BA-7DE8-8245CE705D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5445" t="24819" r="46503"/>
          <a:stretch/>
        </p:blipFill>
        <p:spPr>
          <a:xfrm rot="16200000">
            <a:off x="961221" y="4525179"/>
            <a:ext cx="1371600" cy="3294042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28DFE681-710B-6FE5-B8E0-3BC9DB9F12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10363201" cy="1629601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FE383D3-6A16-1891-FF52-470B26B9404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499270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74B5EB04-CA6E-7417-56DF-A55B21E94B7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284891" y="2022250"/>
            <a:ext cx="499270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7792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A783FA55-EF1D-66CF-8FD5-29086D71E6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981" t="40714" r="61027" b="44471"/>
          <a:stretch/>
        </p:blipFill>
        <p:spPr>
          <a:xfrm rot="10800000" flipV="1">
            <a:off x="-26830" y="5950040"/>
            <a:ext cx="2513521" cy="9144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542CEFED-8DE0-0155-A5B6-A44051A6D0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883" t="18052" r="46636"/>
          <a:stretch/>
        </p:blipFill>
        <p:spPr>
          <a:xfrm rot="16200000" flipH="1" flipV="1">
            <a:off x="9553763" y="-952310"/>
            <a:ext cx="1685928" cy="3590547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57FC493E-284F-ADBA-D92D-883CAB13AD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8" y="365125"/>
            <a:ext cx="10439401" cy="161701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B8B2035-4AA9-D25E-9F15-3ED36F734D1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331012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1"/>
            </a:lvl1pPr>
            <a:lvl2pPr>
              <a:spcBef>
                <a:spcPts val="0"/>
              </a:spcBef>
              <a:spcAft>
                <a:spcPts val="1200"/>
              </a:spcAft>
              <a:defRPr sz="1800" b="1"/>
            </a:lvl2pPr>
            <a:lvl3pPr>
              <a:spcBef>
                <a:spcPts val="0"/>
              </a:spcBef>
              <a:spcAft>
                <a:spcPts val="1200"/>
              </a:spcAft>
              <a:defRPr sz="1600" b="1"/>
            </a:lvl3pPr>
            <a:lvl4pPr>
              <a:spcBef>
                <a:spcPts val="0"/>
              </a:spcBef>
              <a:spcAft>
                <a:spcPts val="1200"/>
              </a:spcAft>
              <a:defRPr sz="1400" b="1"/>
            </a:lvl4pPr>
            <a:lvl5pPr>
              <a:spcBef>
                <a:spcPts val="0"/>
              </a:spcBef>
              <a:spcAft>
                <a:spcPts val="1200"/>
              </a:spcAft>
              <a:defRPr sz="1400" b="1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6A694422-6B3E-3D80-AC41-FD1CED52ACA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602310" y="2018120"/>
            <a:ext cx="675148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2813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right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48DBD2A1-633E-7A22-751B-5CEFCA93F2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7703" t="485" b="67543"/>
          <a:stretch/>
        </p:blipFill>
        <p:spPr>
          <a:xfrm rot="5400000">
            <a:off x="-115162" y="115164"/>
            <a:ext cx="1895058" cy="166473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3E7BF4D0-D641-9859-157D-B9094EF3DA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6385" y="446313"/>
            <a:ext cx="5179615" cy="144874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115AE488-757F-4C5A-7733-85C1D1EA98D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5181600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0"/>
            </a:lvl1pPr>
            <a:lvl2pPr>
              <a:spcBef>
                <a:spcPts val="0"/>
              </a:spcBef>
              <a:spcAft>
                <a:spcPts val="1200"/>
              </a:spcAft>
              <a:defRPr sz="1800" b="0"/>
            </a:lvl2pPr>
            <a:lvl3pPr>
              <a:spcBef>
                <a:spcPts val="0"/>
              </a:spcBef>
              <a:spcAft>
                <a:spcPts val="1200"/>
              </a:spcAft>
              <a:defRPr sz="1600" b="0"/>
            </a:lvl3pPr>
            <a:lvl4pPr>
              <a:spcBef>
                <a:spcPts val="0"/>
              </a:spcBef>
              <a:spcAft>
                <a:spcPts val="1200"/>
              </a:spcAft>
              <a:defRPr sz="1400" b="0"/>
            </a:lvl4pPr>
            <a:lvl5pPr>
              <a:spcBef>
                <a:spcPts val="0"/>
              </a:spcBef>
              <a:spcAft>
                <a:spcPts val="1200"/>
              </a:spcAft>
              <a:defRPr sz="1400" b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9DD264F-42B5-DBB0-9839-DB4C6827ED7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76950" y="0"/>
            <a:ext cx="6115050" cy="6868886"/>
          </a:xfrm>
          <a:custGeom>
            <a:avLst/>
            <a:gdLst>
              <a:gd name="connsiteX0" fmla="*/ 0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6858000 h 6858000"/>
              <a:gd name="connsiteX3" fmla="*/ 0 w 6115050"/>
              <a:gd name="connsiteY3" fmla="*/ 6858000 h 6858000"/>
              <a:gd name="connsiteX4" fmla="*/ 0 w 6115050"/>
              <a:gd name="connsiteY4" fmla="*/ 0 h 6858000"/>
              <a:gd name="connsiteX0" fmla="*/ 2024742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6858000 h 6858000"/>
              <a:gd name="connsiteX3" fmla="*/ 0 w 6115050"/>
              <a:gd name="connsiteY3" fmla="*/ 6858000 h 6858000"/>
              <a:gd name="connsiteX4" fmla="*/ 2024742 w 6115050"/>
              <a:gd name="connsiteY4" fmla="*/ 0 h 6858000"/>
              <a:gd name="connsiteX0" fmla="*/ 2024742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3603171 h 6858000"/>
              <a:gd name="connsiteX3" fmla="*/ 6115050 w 6115050"/>
              <a:gd name="connsiteY3" fmla="*/ 6858000 h 6858000"/>
              <a:gd name="connsiteX4" fmla="*/ 0 w 6115050"/>
              <a:gd name="connsiteY4" fmla="*/ 6858000 h 6858000"/>
              <a:gd name="connsiteX5" fmla="*/ 2024742 w 6115050"/>
              <a:gd name="connsiteY5" fmla="*/ 0 h 6858000"/>
              <a:gd name="connsiteX0" fmla="*/ 2024742 w 6115050"/>
              <a:gd name="connsiteY0" fmla="*/ 0 h 6868886"/>
              <a:gd name="connsiteX1" fmla="*/ 6115050 w 6115050"/>
              <a:gd name="connsiteY1" fmla="*/ 0 h 6868886"/>
              <a:gd name="connsiteX2" fmla="*/ 6115050 w 6115050"/>
              <a:gd name="connsiteY2" fmla="*/ 3603171 h 6868886"/>
              <a:gd name="connsiteX3" fmla="*/ 5157107 w 6115050"/>
              <a:gd name="connsiteY3" fmla="*/ 6868886 h 6868886"/>
              <a:gd name="connsiteX4" fmla="*/ 0 w 6115050"/>
              <a:gd name="connsiteY4" fmla="*/ 6858000 h 6868886"/>
              <a:gd name="connsiteX5" fmla="*/ 2024742 w 6115050"/>
              <a:gd name="connsiteY5" fmla="*/ 0 h 6868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15050" h="6868886">
                <a:moveTo>
                  <a:pt x="2024742" y="0"/>
                </a:moveTo>
                <a:lnTo>
                  <a:pt x="6115050" y="0"/>
                </a:lnTo>
                <a:lnTo>
                  <a:pt x="6115050" y="3603171"/>
                </a:lnTo>
                <a:lnTo>
                  <a:pt x="5157107" y="6868886"/>
                </a:lnTo>
                <a:lnTo>
                  <a:pt x="0" y="6858000"/>
                </a:lnTo>
                <a:lnTo>
                  <a:pt x="2024742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7008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BE5D17C7-3503-7305-8191-20863B7388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55824" b="26760"/>
          <a:stretch/>
        </p:blipFill>
        <p:spPr>
          <a:xfrm>
            <a:off x="9229725" y="1835240"/>
            <a:ext cx="2962275" cy="502276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76E1AE6-3E01-1CBD-CAEC-11056D00AD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43413" y="1835240"/>
            <a:ext cx="7000875" cy="42798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0E28F03-2149-7C50-779B-6A2D8D789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60903" r="75060" b="10347"/>
          <a:stretch/>
        </p:blipFill>
        <p:spPr>
          <a:xfrm rot="16200000">
            <a:off x="149650" y="-149653"/>
            <a:ext cx="1672375" cy="1971675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CA4CAE4E-4252-8471-C50B-1DD5AFBFEC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10363202" cy="1603462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E493CE42-5465-91AC-A1F4-A4821AE37A9C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3299013" cy="391491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0"/>
            </a:lvl1pPr>
            <a:lvl2pPr>
              <a:spcBef>
                <a:spcPts val="0"/>
              </a:spcBef>
              <a:spcAft>
                <a:spcPts val="1200"/>
              </a:spcAft>
              <a:defRPr sz="1800" b="0"/>
            </a:lvl2pPr>
            <a:lvl3pPr>
              <a:spcBef>
                <a:spcPts val="0"/>
              </a:spcBef>
              <a:spcAft>
                <a:spcPts val="1200"/>
              </a:spcAft>
              <a:defRPr sz="1600" b="0"/>
            </a:lvl3pPr>
            <a:lvl4pPr>
              <a:spcBef>
                <a:spcPts val="0"/>
              </a:spcBef>
              <a:spcAft>
                <a:spcPts val="1200"/>
              </a:spcAft>
              <a:defRPr sz="1400" b="0"/>
            </a:lvl4pPr>
            <a:lvl5pPr>
              <a:spcBef>
                <a:spcPts val="0"/>
              </a:spcBef>
              <a:spcAft>
                <a:spcPts val="1200"/>
              </a:spcAft>
              <a:defRPr sz="1400" b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able Placeholder 12">
            <a:extLst>
              <a:ext uri="{FF2B5EF4-FFF2-40B4-BE49-F238E27FC236}">
                <a16:creationId xmlns:a16="http://schemas.microsoft.com/office/drawing/2014/main" id="{156A00B1-F3E3-B7FF-58F4-61DE3EF07C07}"/>
              </a:ext>
            </a:extLst>
          </p:cNvPr>
          <p:cNvSpPr>
            <a:spLocks noGrp="1"/>
          </p:cNvSpPr>
          <p:nvPr>
            <p:ph type="tbl" sz="quarter" idx="11" hasCustomPrompt="1"/>
          </p:nvPr>
        </p:nvSpPr>
        <p:spPr>
          <a:xfrm>
            <a:off x="4602163" y="2017713"/>
            <a:ext cx="6675437" cy="3932237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 dirty="0"/>
              <a:t>Click icon to insert table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6214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13A42171-0D82-07BF-4667-498861CC2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8883" t="34408" r="46636" b="1"/>
          <a:stretch/>
        </p:blipFill>
        <p:spPr>
          <a:xfrm flipH="1" flipV="1">
            <a:off x="10506072" y="3984078"/>
            <a:ext cx="1685928" cy="2873921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13C71A0D-EE6D-54C4-71DE-04BE28558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9718" t="47145" r="39389" b="8754"/>
          <a:stretch/>
        </p:blipFill>
        <p:spPr>
          <a:xfrm rot="5400000" flipV="1">
            <a:off x="9781526" y="-311511"/>
            <a:ext cx="2098964" cy="2721985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3F82FA92-501B-5A05-E15F-2FB9BCEBE3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1990" y="434225"/>
            <a:ext cx="9524998" cy="149962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463EEE0-BE31-122C-586C-8BA8D90371E6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6257366" cy="391491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spcAft>
                <a:spcPts val="1200"/>
              </a:spcAft>
              <a:buNone/>
              <a:defRPr sz="2000" b="0"/>
            </a:lvl1pPr>
            <a:lvl2pPr marL="228600">
              <a:spcBef>
                <a:spcPts val="0"/>
              </a:spcBef>
              <a:spcAft>
                <a:spcPts val="1200"/>
              </a:spcAft>
              <a:defRPr sz="2000" b="0"/>
            </a:lvl2pPr>
            <a:lvl3pPr marL="685800">
              <a:spcBef>
                <a:spcPts val="0"/>
              </a:spcBef>
              <a:spcAft>
                <a:spcPts val="1200"/>
              </a:spcAft>
              <a:defRPr sz="1800" b="0"/>
            </a:lvl3pPr>
            <a:lvl4pPr marL="914400">
              <a:spcBef>
                <a:spcPts val="0"/>
              </a:spcBef>
              <a:spcAft>
                <a:spcPts val="1200"/>
              </a:spcAft>
              <a:defRPr sz="1600" b="0"/>
            </a:lvl4pPr>
            <a:lvl5pPr marL="1143000">
              <a:spcBef>
                <a:spcPts val="0"/>
              </a:spcBef>
              <a:spcAft>
                <a:spcPts val="1200"/>
              </a:spcAft>
              <a:defRPr sz="1600" b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52C157D5-2C68-BA6A-033B-A4CC016CA68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967475" y="2018119"/>
            <a:ext cx="2449514" cy="3931919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1"/>
            </a:lvl1pPr>
            <a:lvl2pPr marL="411480">
              <a:spcBef>
                <a:spcPts val="0"/>
              </a:spcBef>
              <a:spcAft>
                <a:spcPts val="1200"/>
              </a:spcAft>
              <a:defRPr sz="1800" b="1"/>
            </a:lvl2pPr>
            <a:lvl3pPr marL="502920">
              <a:spcBef>
                <a:spcPts val="0"/>
              </a:spcBef>
              <a:spcAft>
                <a:spcPts val="1200"/>
              </a:spcAft>
              <a:defRPr sz="1600" b="1"/>
            </a:lvl3pPr>
            <a:lvl4pPr marL="594360">
              <a:spcBef>
                <a:spcPts val="0"/>
              </a:spcBef>
              <a:spcAft>
                <a:spcPts val="1200"/>
              </a:spcAft>
              <a:defRPr sz="1400" b="1"/>
            </a:lvl4pPr>
            <a:lvl5pPr marL="685800">
              <a:spcBef>
                <a:spcPts val="0"/>
              </a:spcBef>
              <a:spcAft>
                <a:spcPts val="1200"/>
              </a:spcAft>
              <a:defRPr sz="1400" b="1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98423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15CC9A46-E0E7-B31D-3E27-6F4303A45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8883" t="18052" r="46636"/>
          <a:stretch/>
        </p:blipFill>
        <p:spPr>
          <a:xfrm rot="16200000" flipH="1" flipV="1">
            <a:off x="9553763" y="-952310"/>
            <a:ext cx="1685928" cy="3590547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767669DC-4C7F-9B50-FCC0-F2AF5B2A95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3545" y="584477"/>
            <a:ext cx="10354052" cy="1209765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BEF581C2-7562-2E21-E6DD-20AEFC43AABC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923545" y="2009775"/>
            <a:ext cx="10354052" cy="393192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3842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3A3E8B6-2BD8-19E0-7F51-7A25EF836F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1515" y="374090"/>
            <a:ext cx="5057104" cy="3624984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1F96043-F6A4-F581-7DB8-96138F0E401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1514" y="4172989"/>
            <a:ext cx="5057103" cy="2519363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 baseline="0">
                <a:solidFill>
                  <a:schemeClr val="bg1"/>
                </a:solidFill>
              </a:defRPr>
            </a:lvl1pPr>
            <a:lvl2pPr marL="7429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aseline="0">
                <a:solidFill>
                  <a:schemeClr val="bg1"/>
                </a:solidFill>
              </a:defRPr>
            </a:lvl2pPr>
            <a:lvl3pPr marL="12001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baseline="0">
                <a:solidFill>
                  <a:schemeClr val="bg1"/>
                </a:solidFill>
              </a:defRPr>
            </a:lvl3pPr>
            <a:lvl4pPr marL="16573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400" baseline="0">
                <a:solidFill>
                  <a:schemeClr val="bg1"/>
                </a:solidFill>
              </a:defRPr>
            </a:lvl4pPr>
            <a:lvl5pPr marL="2000250" indent="-1714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805DE67-EFB0-F6F3-6C08-2FE90284C3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151" r="18577"/>
          <a:stretch/>
        </p:blipFill>
        <p:spPr>
          <a:xfrm flipH="1">
            <a:off x="0" y="0"/>
            <a:ext cx="51816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347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06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40D96-BFFB-05BD-30ED-0352500CD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kubernetes</a:t>
            </a:r>
            <a:b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</a:br>
            <a:r>
              <a:rPr lang="en-US" dirty="0">
                <a:highlight>
                  <a:srgbClr val="800000"/>
                </a:highlight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cybersecurity</a:t>
            </a:r>
            <a:b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</a:b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defense</a:t>
            </a:r>
            <a:b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</a:b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system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1ECD022-F7E4-6ED6-BA33-658BE759AD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0" y="0"/>
            <a:ext cx="457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390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9F442AF-6BA2-3007-7613-E4E210B9FF4E}"/>
              </a:ext>
            </a:extLst>
          </p:cNvPr>
          <p:cNvSpPr/>
          <p:nvPr/>
        </p:nvSpPr>
        <p:spPr>
          <a:xfrm>
            <a:off x="6517637" y="4231511"/>
            <a:ext cx="5300287" cy="463046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E13313A-6B03-839E-D640-F8D924AAEFA4}"/>
              </a:ext>
            </a:extLst>
          </p:cNvPr>
          <p:cNvSpPr/>
          <p:nvPr/>
        </p:nvSpPr>
        <p:spPr>
          <a:xfrm>
            <a:off x="6517638" y="4733656"/>
            <a:ext cx="5300287" cy="463046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C646248-51EC-1C62-1DD7-CCE33331182C}"/>
              </a:ext>
            </a:extLst>
          </p:cNvPr>
          <p:cNvSpPr/>
          <p:nvPr/>
        </p:nvSpPr>
        <p:spPr>
          <a:xfrm>
            <a:off x="6517638" y="5236263"/>
            <a:ext cx="5300287" cy="463046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F3EA81D-A349-056C-32D0-A95476D2E804}"/>
              </a:ext>
            </a:extLst>
          </p:cNvPr>
          <p:cNvSpPr/>
          <p:nvPr/>
        </p:nvSpPr>
        <p:spPr>
          <a:xfrm>
            <a:off x="6517639" y="5737947"/>
            <a:ext cx="5300287" cy="463046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64D8BA6-5A62-E4B3-C0C2-18FCE44C6B37}"/>
              </a:ext>
            </a:extLst>
          </p:cNvPr>
          <p:cNvSpPr/>
          <p:nvPr/>
        </p:nvSpPr>
        <p:spPr>
          <a:xfrm>
            <a:off x="6517636" y="6270463"/>
            <a:ext cx="5300287" cy="463046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E330721-0FA6-0B0E-0BEB-2F697FADCC2D}"/>
              </a:ext>
            </a:extLst>
          </p:cNvPr>
          <p:cNvSpPr/>
          <p:nvPr/>
        </p:nvSpPr>
        <p:spPr>
          <a:xfrm>
            <a:off x="6517637" y="3729037"/>
            <a:ext cx="5300287" cy="463046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474D05E-8A36-8D9F-519E-DB514A69D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7640" y="-1"/>
            <a:ext cx="5674360" cy="3237959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About us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0C1E08-E337-110E-DB8E-41BA4A3341A1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6517640" y="3729037"/>
            <a:ext cx="5674360" cy="3128963"/>
          </a:xfrm>
        </p:spPr>
        <p:txBody>
          <a:bodyPr/>
          <a:lstStyle/>
          <a:p>
            <a:pPr marL="457200" indent="-457200">
              <a:buAutoNum type="arabicPeriod"/>
            </a:pPr>
            <a:r>
              <a:rPr lang="en-US" dirty="0">
                <a:solidFill>
                  <a:schemeClr val="bg1"/>
                </a:solidFill>
                <a:latin typeface="Berlin Sans FB" panose="020E0602020502020306" pitchFamily="34" charset="0"/>
              </a:rPr>
              <a:t>Ziad Mahmoud Ali</a:t>
            </a:r>
          </a:p>
          <a:p>
            <a:pPr marL="457200" indent="-457200">
              <a:buAutoNum type="arabicPeriod"/>
            </a:pPr>
            <a:r>
              <a:rPr lang="en-US" dirty="0">
                <a:solidFill>
                  <a:schemeClr val="bg1"/>
                </a:solidFill>
                <a:latin typeface="Berlin Sans FB" panose="020E0602020502020306" pitchFamily="34" charset="0"/>
              </a:rPr>
              <a:t>Mohaned Mahmoud Sabry</a:t>
            </a:r>
          </a:p>
          <a:p>
            <a:pPr marL="457200" indent="-457200">
              <a:buAutoNum type="arabicPeriod"/>
            </a:pPr>
            <a:r>
              <a:rPr lang="en-US" dirty="0">
                <a:solidFill>
                  <a:schemeClr val="bg1"/>
                </a:solidFill>
                <a:latin typeface="Berlin Sans FB" panose="020E0602020502020306" pitchFamily="34" charset="0"/>
              </a:rPr>
              <a:t>Mohamed Hassan Mohamed</a:t>
            </a:r>
          </a:p>
          <a:p>
            <a:pPr marL="457200" indent="-457200">
              <a:buAutoNum type="arabicPeriod"/>
            </a:pPr>
            <a:r>
              <a:rPr lang="en-US" dirty="0">
                <a:solidFill>
                  <a:schemeClr val="bg1"/>
                </a:solidFill>
                <a:latin typeface="Berlin Sans FB" panose="020E0602020502020306" pitchFamily="34" charset="0"/>
              </a:rPr>
              <a:t>Loai Ahmed Mostafa</a:t>
            </a:r>
          </a:p>
          <a:p>
            <a:pPr marL="457200" indent="-457200">
              <a:buAutoNum type="arabicPeriod"/>
            </a:pPr>
            <a:r>
              <a:rPr lang="en-US" dirty="0">
                <a:solidFill>
                  <a:schemeClr val="bg1"/>
                </a:solidFill>
                <a:latin typeface="Berlin Sans FB" panose="020E0602020502020306" pitchFamily="34" charset="0"/>
              </a:rPr>
              <a:t>Seif Yasser Abd-El Razik</a:t>
            </a:r>
          </a:p>
          <a:p>
            <a:pPr marL="457200" indent="-457200">
              <a:buAutoNum type="arabicPeriod"/>
            </a:pPr>
            <a:r>
              <a:rPr lang="en-US" dirty="0">
                <a:solidFill>
                  <a:schemeClr val="bg1"/>
                </a:solidFill>
                <a:latin typeface="Berlin Sans FB" panose="020E0602020502020306" pitchFamily="34" charset="0"/>
              </a:rPr>
              <a:t>Shimaa Rabia Ewass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BB43C7-7EA8-3EBF-B310-4C0A3C9ABA93}"/>
              </a:ext>
            </a:extLst>
          </p:cNvPr>
          <p:cNvSpPr txBox="1">
            <a:spLocks/>
          </p:cNvSpPr>
          <p:nvPr/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5CEABB6-07DC-46E8-9B57-56EC44A396E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20594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BB6077BF-C38A-9378-7620-76645309CBC0}"/>
              </a:ext>
            </a:extLst>
          </p:cNvPr>
          <p:cNvSpPr txBox="1">
            <a:spLocks/>
          </p:cNvSpPr>
          <p:nvPr/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5CEABB6-07DC-46E8-9B57-56EC44A396E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ED4A4DC-DF4B-089E-691D-72171BD8AD41}"/>
              </a:ext>
            </a:extLst>
          </p:cNvPr>
          <p:cNvSpPr/>
          <p:nvPr/>
        </p:nvSpPr>
        <p:spPr>
          <a:xfrm>
            <a:off x="1925781" y="1427324"/>
            <a:ext cx="4170219" cy="950421"/>
          </a:xfrm>
          <a:prstGeom prst="roundRect">
            <a:avLst/>
          </a:prstGeom>
          <a:solidFill>
            <a:srgbClr val="C00000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latin typeface="+mj-lt"/>
              </a:rPr>
              <a:t>Supervisors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52A9CDC-ECBE-2D34-1026-34AC67A1E073}"/>
              </a:ext>
            </a:extLst>
          </p:cNvPr>
          <p:cNvSpPr/>
          <p:nvPr/>
        </p:nvSpPr>
        <p:spPr>
          <a:xfrm>
            <a:off x="1925780" y="4092328"/>
            <a:ext cx="4170219" cy="950421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2800" b="1" dirty="0">
                <a:solidFill>
                  <a:schemeClr val="tx1"/>
                </a:solidFill>
                <a:latin typeface="Baskerville Old Face" panose="02020602080505020303" pitchFamily="18" charset="0"/>
              </a:rPr>
              <a:t>T.A. Abdelrahman Ali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CBEE7D3-F8D4-F924-474D-19B8452CBA49}"/>
              </a:ext>
            </a:extLst>
          </p:cNvPr>
          <p:cNvSpPr/>
          <p:nvPr/>
        </p:nvSpPr>
        <p:spPr>
          <a:xfrm>
            <a:off x="1925780" y="2759826"/>
            <a:ext cx="4170219" cy="950421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3200" b="1" dirty="0">
                <a:solidFill>
                  <a:schemeClr val="tx1"/>
                </a:solidFill>
                <a:latin typeface="Baskerville Old Face" panose="02020602080505020303" pitchFamily="18" charset="0"/>
              </a:rPr>
              <a:t>Dr. Mervat Al Qutt</a:t>
            </a:r>
          </a:p>
        </p:txBody>
      </p:sp>
    </p:spTree>
    <p:extLst>
      <p:ext uri="{BB962C8B-B14F-4D97-AF65-F5344CB8AC3E}">
        <p14:creationId xmlns:p14="http://schemas.microsoft.com/office/powerpoint/2010/main" val="56176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A59F9B-B70F-08D6-3A48-324BD73F3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2450DBCF-5E37-C93E-7352-26AA5B94A72A}"/>
              </a:ext>
            </a:extLst>
          </p:cNvPr>
          <p:cNvSpPr txBox="1">
            <a:spLocks/>
          </p:cNvSpPr>
          <p:nvPr/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5CEABB6-07DC-46E8-9B57-56EC44A396E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5081F17-6B84-5C0E-0295-5EDEBADBF6EF}"/>
              </a:ext>
            </a:extLst>
          </p:cNvPr>
          <p:cNvSpPr/>
          <p:nvPr/>
        </p:nvSpPr>
        <p:spPr>
          <a:xfrm>
            <a:off x="2029690" y="1011688"/>
            <a:ext cx="4066310" cy="649497"/>
          </a:xfrm>
          <a:prstGeom prst="roundRect">
            <a:avLst/>
          </a:prstGeom>
          <a:solidFill>
            <a:srgbClr val="C00000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latin typeface="+mj-lt"/>
              </a:rPr>
              <a:t>Agenda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A5430D5-FBBC-24DD-A42C-C11C519775D3}"/>
              </a:ext>
            </a:extLst>
          </p:cNvPr>
          <p:cNvSpPr/>
          <p:nvPr/>
        </p:nvSpPr>
        <p:spPr>
          <a:xfrm>
            <a:off x="2029690" y="2530234"/>
            <a:ext cx="4066310" cy="415331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2400" b="1" dirty="0">
                <a:solidFill>
                  <a:schemeClr val="tx1"/>
                </a:solidFill>
                <a:latin typeface="Aptos" panose="020B0004020202020204" pitchFamily="34" charset="0"/>
              </a:rPr>
              <a:t>System Analysis &amp; Design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25C7FD4-6390-0686-3D4E-7938E5E28B90}"/>
              </a:ext>
            </a:extLst>
          </p:cNvPr>
          <p:cNvSpPr/>
          <p:nvPr/>
        </p:nvSpPr>
        <p:spPr>
          <a:xfrm>
            <a:off x="2029690" y="2017144"/>
            <a:ext cx="4066310" cy="415331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2400" b="1" dirty="0">
                <a:solidFill>
                  <a:schemeClr val="tx1"/>
                </a:solidFill>
                <a:latin typeface="Aptos" panose="020B0004020202020204" pitchFamily="34" charset="0"/>
              </a:rPr>
              <a:t>Problem Definition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450A3FD-3D32-E7AC-5BDA-D4609EB0A5AC}"/>
              </a:ext>
            </a:extLst>
          </p:cNvPr>
          <p:cNvSpPr/>
          <p:nvPr/>
        </p:nvSpPr>
        <p:spPr>
          <a:xfrm>
            <a:off x="2029690" y="3556414"/>
            <a:ext cx="4066310" cy="415331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2400" b="1" dirty="0">
                <a:solidFill>
                  <a:schemeClr val="tx1"/>
                </a:solidFill>
                <a:latin typeface="Aptos" panose="020B0004020202020204" pitchFamily="34" charset="0"/>
              </a:rPr>
              <a:t>Experiment Setup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21F2968-2574-82A9-4E55-90DD7FEB79EE}"/>
              </a:ext>
            </a:extLst>
          </p:cNvPr>
          <p:cNvSpPr/>
          <p:nvPr/>
        </p:nvSpPr>
        <p:spPr>
          <a:xfrm>
            <a:off x="2029690" y="4069504"/>
            <a:ext cx="4066310" cy="415331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2000" b="1" dirty="0">
                <a:solidFill>
                  <a:schemeClr val="tx1"/>
                </a:solidFill>
                <a:latin typeface="Aptos" panose="020B0004020202020204" pitchFamily="34" charset="0"/>
              </a:rPr>
              <a:t>Practical Work &amp; Implementation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3BE5815-D06D-73DB-4950-6EB127B6B612}"/>
              </a:ext>
            </a:extLst>
          </p:cNvPr>
          <p:cNvSpPr/>
          <p:nvPr/>
        </p:nvSpPr>
        <p:spPr>
          <a:xfrm>
            <a:off x="2029690" y="3043324"/>
            <a:ext cx="4066310" cy="415331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2400" b="1" dirty="0">
                <a:solidFill>
                  <a:schemeClr val="tx1"/>
                </a:solidFill>
                <a:latin typeface="Aptos" panose="020B0004020202020204" pitchFamily="34" charset="0"/>
              </a:rPr>
              <a:t>Techniques &amp; Algorithms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6FBE9EA-7C04-0C1C-9FFD-68F06B0D99D8}"/>
              </a:ext>
            </a:extLst>
          </p:cNvPr>
          <p:cNvSpPr/>
          <p:nvPr/>
        </p:nvSpPr>
        <p:spPr>
          <a:xfrm>
            <a:off x="2029690" y="4582594"/>
            <a:ext cx="4066310" cy="415331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2400" b="1" dirty="0">
                <a:solidFill>
                  <a:schemeClr val="tx1"/>
                </a:solidFill>
                <a:latin typeface="Aptos" panose="020B0004020202020204" pitchFamily="34" charset="0"/>
              </a:rPr>
              <a:t>Problems Faced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541406C-F758-A9F0-7E21-9DA67A8D1CDB}"/>
              </a:ext>
            </a:extLst>
          </p:cNvPr>
          <p:cNvSpPr/>
          <p:nvPr/>
        </p:nvSpPr>
        <p:spPr>
          <a:xfrm>
            <a:off x="2029690" y="5095684"/>
            <a:ext cx="4066310" cy="415331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2400" b="1" dirty="0">
                <a:solidFill>
                  <a:schemeClr val="tx1"/>
                </a:solidFill>
                <a:latin typeface="Aptos" panose="020B0004020202020204" pitchFamily="34" charset="0"/>
              </a:rPr>
              <a:t>Project Roadmap</a:t>
            </a:r>
          </a:p>
        </p:txBody>
      </p:sp>
    </p:spTree>
    <p:extLst>
      <p:ext uri="{BB962C8B-B14F-4D97-AF65-F5344CB8AC3E}">
        <p14:creationId xmlns:p14="http://schemas.microsoft.com/office/powerpoint/2010/main" val="843693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E4F0B-A6EB-861C-1C34-CAA9BDE47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"/>
            <a:ext cx="6095999" cy="720000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/>
              <a:t>1. Problem 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F97739-E0DF-24F3-7886-013A799A52C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399" y="1496292"/>
            <a:ext cx="7273638" cy="3048000"/>
          </a:xfrm>
        </p:spPr>
        <p:txBody>
          <a:bodyPr>
            <a:normAutofit/>
          </a:bodyPr>
          <a:lstStyle/>
          <a:p>
            <a:pPr marL="0" indent="0">
              <a:lnSpc>
                <a:spcPts val="2600"/>
              </a:lnSpc>
              <a:buNone/>
            </a:pPr>
            <a:r>
              <a:rPr lang="en-US" sz="2800" dirty="0">
                <a:latin typeface="+mj-lt"/>
                <a:ea typeface="DM Sans" pitchFamily="34" charset="-122"/>
                <a:cs typeface="DM Sans" pitchFamily="34" charset="-120"/>
              </a:rPr>
              <a:t>Modern Kubernetes environments are highly dynamic and exposed to threats like </a:t>
            </a:r>
            <a:r>
              <a:rPr lang="en-US" sz="2800" b="1" dirty="0">
                <a:solidFill>
                  <a:srgbClr val="C00000"/>
                </a:solidFill>
                <a:latin typeface="+mj-lt"/>
                <a:ea typeface="DM Sans" pitchFamily="34" charset="-122"/>
                <a:cs typeface="DM Sans" pitchFamily="34" charset="-120"/>
              </a:rPr>
              <a:t>SSRF</a:t>
            </a:r>
            <a:r>
              <a:rPr lang="en-US" sz="2800" dirty="0">
                <a:latin typeface="+mj-lt"/>
                <a:ea typeface="DM Sans" pitchFamily="34" charset="-122"/>
                <a:cs typeface="DM Sans" pitchFamily="34" charset="-120"/>
              </a:rPr>
              <a:t> and </a:t>
            </a:r>
            <a:r>
              <a:rPr lang="en-US" sz="2800" b="1" dirty="0">
                <a:solidFill>
                  <a:srgbClr val="C00000"/>
                </a:solidFill>
                <a:latin typeface="+mj-lt"/>
                <a:ea typeface="DM Sans" pitchFamily="34" charset="-122"/>
                <a:cs typeface="DM Sans" pitchFamily="34" charset="-120"/>
              </a:rPr>
              <a:t>network scanning attacks</a:t>
            </a:r>
            <a:r>
              <a:rPr lang="en-US" sz="2800" dirty="0">
                <a:latin typeface="+mj-lt"/>
                <a:ea typeface="DM Sans" pitchFamily="34" charset="-122"/>
                <a:cs typeface="DM Sans" pitchFamily="34" charset="-120"/>
              </a:rPr>
              <a:t>. Traditional solutions are reactive, manual, and too slow to respond.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10215054-D0B9-F648-9163-8502B348A5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/>
          <a:lstStyle/>
          <a:p>
            <a:fld id="{B5CEABB6-07DC-46E8-9B57-56EC44A396E5}" type="slidenum">
              <a:rPr lang="en-US" sz="1800" smtClean="0"/>
              <a:pPr/>
              <a:t>5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12000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665D23-C43E-AC83-58E6-49BA0B48B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F9A90-C7E2-FBEE-F32E-27814D349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-2"/>
            <a:ext cx="5229185" cy="720000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/>
              <a:t>1. Problem definition cont.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F39F8-1B1F-0AAA-A120-5B341444C61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98762" y="770370"/>
            <a:ext cx="7273638" cy="4670829"/>
          </a:xfrm>
        </p:spPr>
        <p:txBody>
          <a:bodyPr>
            <a:normAutofit/>
          </a:bodyPr>
          <a:lstStyle/>
          <a:p>
            <a:pPr marL="0" lvl="0" indent="0">
              <a:spcAft>
                <a:spcPts val="0"/>
              </a:spcAft>
              <a:buNone/>
            </a:pPr>
            <a:r>
              <a:rPr lang="en-US" sz="2400" b="1" dirty="0">
                <a:solidFill>
                  <a:srgbClr val="C00000"/>
                </a:solidFill>
                <a:latin typeface="Poppins"/>
                <a:ea typeface="Poppins"/>
                <a:cs typeface="Poppins"/>
                <a:sym typeface="Poppins"/>
              </a:rPr>
              <a:t>THE SECURITY GAP</a:t>
            </a:r>
          </a:p>
          <a:p>
            <a:pPr marL="0" lvl="0" indent="0">
              <a:spcAft>
                <a:spcPts val="0"/>
              </a:spcAft>
              <a:buNone/>
            </a:pPr>
            <a:endParaRPr lang="en-US" b="1" dirty="0">
              <a:solidFill>
                <a:srgbClr val="C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>
              <a:lnSpc>
                <a:spcPct val="160000"/>
              </a:lnSpc>
              <a:spcAft>
                <a:spcPts val="0"/>
              </a:spcAft>
            </a:pPr>
            <a:r>
              <a:rPr lang="en-US" sz="1800" b="1" dirty="0">
                <a:latin typeface="+mj-lt"/>
                <a:ea typeface="Lato"/>
                <a:cs typeface="Lato"/>
                <a:sym typeface="Lato"/>
              </a:rPr>
              <a:t>Manual Failure:</a:t>
            </a:r>
            <a:r>
              <a:rPr lang="en-US" sz="1800" dirty="0">
                <a:latin typeface="+mj-lt"/>
                <a:ea typeface="Lato"/>
                <a:cs typeface="Lato"/>
                <a:sym typeface="Lato"/>
              </a:rPr>
              <a:t> Reactive solutions fail to keep pace with automated exploits.</a:t>
            </a:r>
            <a:endParaRPr lang="en-US" sz="2800" dirty="0">
              <a:latin typeface="+mj-lt"/>
            </a:endParaRPr>
          </a:p>
          <a:p>
            <a:pPr>
              <a:lnSpc>
                <a:spcPct val="160000"/>
              </a:lnSpc>
              <a:spcAft>
                <a:spcPts val="0"/>
              </a:spcAft>
            </a:pPr>
            <a:r>
              <a:rPr lang="en-US" b="1" dirty="0">
                <a:latin typeface="+mj-lt"/>
                <a:ea typeface="Lato"/>
                <a:cs typeface="Lato"/>
                <a:sym typeface="Lato"/>
              </a:rPr>
              <a:t>Lack of Real-time:</a:t>
            </a:r>
            <a:r>
              <a:rPr lang="en-US" dirty="0">
                <a:latin typeface="+mj-lt"/>
                <a:ea typeface="Lato"/>
                <a:cs typeface="Lato"/>
                <a:sym typeface="Lato"/>
              </a:rPr>
              <a:t> Significant delay between detection and isolation.</a:t>
            </a:r>
          </a:p>
          <a:p>
            <a:pPr>
              <a:lnSpc>
                <a:spcPct val="160000"/>
              </a:lnSpc>
              <a:spcAft>
                <a:spcPts val="0"/>
              </a:spcAft>
            </a:pPr>
            <a:r>
              <a:rPr lang="en-US" b="1" dirty="0">
                <a:latin typeface="+mj-lt"/>
                <a:ea typeface="Lato"/>
                <a:cs typeface="Lato"/>
                <a:sym typeface="Lato"/>
              </a:rPr>
              <a:t>Visibility:</a:t>
            </a:r>
            <a:r>
              <a:rPr lang="en-US" dirty="0">
                <a:latin typeface="+mj-lt"/>
                <a:ea typeface="Lato"/>
                <a:cs typeface="Lato"/>
                <a:sym typeface="Lato"/>
              </a:rPr>
              <a:t> Raw traffic often remains unanalyzed for malicious patterns.</a:t>
            </a:r>
            <a:endParaRPr lang="en-US" dirty="0">
              <a:latin typeface="+mj-lt"/>
            </a:endParaRPr>
          </a:p>
          <a:p>
            <a:pPr marL="0" lvl="0" indent="0">
              <a:lnSpc>
                <a:spcPct val="160000"/>
              </a:lnSpc>
              <a:spcAft>
                <a:spcPts val="0"/>
              </a:spcAft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2C7EBE-EA6E-32F3-E403-7E25738087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98121" y="5246302"/>
            <a:ext cx="631065" cy="296214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556D4947-2904-C82A-67C6-6014EB1F4211}"/>
              </a:ext>
            </a:extLst>
          </p:cNvPr>
          <p:cNvSpPr/>
          <p:nvPr/>
        </p:nvSpPr>
        <p:spPr>
          <a:xfrm>
            <a:off x="8337261" y="48380"/>
            <a:ext cx="3725704" cy="2269212"/>
          </a:xfrm>
          <a:prstGeom prst="roundRect">
            <a:avLst>
              <a:gd name="adj" fmla="val 3926"/>
            </a:avLst>
          </a:prstGeom>
          <a:solidFill>
            <a:schemeClr val="tx1"/>
          </a:solidFill>
          <a:ln w="381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0E961A0A-9601-ED16-52FD-5F88D60FF451}"/>
              </a:ext>
            </a:extLst>
          </p:cNvPr>
          <p:cNvSpPr/>
          <p:nvPr/>
        </p:nvSpPr>
        <p:spPr>
          <a:xfrm>
            <a:off x="8598496" y="238309"/>
            <a:ext cx="3286363" cy="6977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No Real-Time Detection</a:t>
            </a:r>
            <a:endParaRPr lang="en-US" sz="215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B46108A9-F9C2-B4F1-92C3-E1F2184E5A78}"/>
              </a:ext>
            </a:extLst>
          </p:cNvPr>
          <p:cNvSpPr/>
          <p:nvPr/>
        </p:nvSpPr>
        <p:spPr>
          <a:xfrm>
            <a:off x="8598496" y="1060555"/>
            <a:ext cx="3286363" cy="1007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Malicious network behavior goes undetected until significant damage is done.</a:t>
            </a:r>
            <a:endParaRPr lang="en-US" sz="1650" dirty="0"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BDE3B24D-C2C1-DB86-68A3-0036C3BB3CBB}"/>
              </a:ext>
            </a:extLst>
          </p:cNvPr>
          <p:cNvSpPr/>
          <p:nvPr/>
        </p:nvSpPr>
        <p:spPr>
          <a:xfrm>
            <a:off x="8337261" y="2537262"/>
            <a:ext cx="3725704" cy="2269212"/>
          </a:xfrm>
          <a:prstGeom prst="roundRect">
            <a:avLst>
              <a:gd name="adj" fmla="val 3926"/>
            </a:avLst>
          </a:prstGeom>
          <a:solidFill>
            <a:schemeClr val="tx1"/>
          </a:solidFill>
          <a:ln w="381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0D5D939E-5043-ADBC-DCC6-237729D5336F}"/>
              </a:ext>
            </a:extLst>
          </p:cNvPr>
          <p:cNvSpPr/>
          <p:nvPr/>
        </p:nvSpPr>
        <p:spPr>
          <a:xfrm>
            <a:off x="8556931" y="2756932"/>
            <a:ext cx="3286363" cy="6977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No Intelligent Analysis</a:t>
            </a:r>
            <a:endParaRPr lang="en-US" sz="2150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672D05CA-90E9-155B-0E72-C063C4F5F31B}"/>
              </a:ext>
            </a:extLst>
          </p:cNvPr>
          <p:cNvSpPr/>
          <p:nvPr/>
        </p:nvSpPr>
        <p:spPr>
          <a:xfrm>
            <a:off x="8556931" y="3579178"/>
            <a:ext cx="3286363" cy="671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Traffic is not analyzed with AI, missing complex attack patterns.</a:t>
            </a:r>
            <a:endParaRPr lang="en-US" sz="1650" dirty="0"/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A51225B0-FDE7-513D-8A95-01E2DB1ED7DA}"/>
              </a:ext>
            </a:extLst>
          </p:cNvPr>
          <p:cNvSpPr/>
          <p:nvPr/>
        </p:nvSpPr>
        <p:spPr>
          <a:xfrm>
            <a:off x="4426195" y="5035207"/>
            <a:ext cx="7659052" cy="1584484"/>
          </a:xfrm>
          <a:prstGeom prst="roundRect">
            <a:avLst>
              <a:gd name="adj" fmla="val 5623"/>
            </a:avLst>
          </a:prstGeom>
          <a:solidFill>
            <a:schemeClr val="tx1"/>
          </a:solidFill>
          <a:ln w="381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53674963-EE1F-C2E5-2218-5AADA924EE36}"/>
              </a:ext>
            </a:extLst>
          </p:cNvPr>
          <p:cNvSpPr/>
          <p:nvPr/>
        </p:nvSpPr>
        <p:spPr>
          <a:xfrm>
            <a:off x="4645865" y="5254877"/>
            <a:ext cx="4079915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No Automated Response</a:t>
            </a:r>
            <a:endParaRPr lang="en-US" sz="2150" dirty="0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D70A1B00-AB88-DB01-7550-75C2CF18CD3C}"/>
              </a:ext>
            </a:extLst>
          </p:cNvPr>
          <p:cNvSpPr/>
          <p:nvPr/>
        </p:nvSpPr>
        <p:spPr>
          <a:xfrm>
            <a:off x="4645865" y="5728270"/>
            <a:ext cx="7219712" cy="671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Manual intervention leaves a critical window for attackers to exploit services.</a:t>
            </a:r>
            <a:endParaRPr lang="en-US" sz="1650" dirty="0"/>
          </a:p>
        </p:txBody>
      </p: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6D426F20-BD7D-3F7E-5113-A44C3C350B33}"/>
              </a:ext>
            </a:extLst>
          </p:cNvPr>
          <p:cNvSpPr txBox="1">
            <a:spLocks/>
          </p:cNvSpPr>
          <p:nvPr/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5CEABB6-07DC-46E8-9B57-56EC44A396E5}" type="slidenum">
              <a:rPr lang="en-US" sz="1800" smtClean="0"/>
              <a:pPr/>
              <a:t>6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833763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507AD50-91BC-7F0F-8283-B7597DB7E809}"/>
              </a:ext>
            </a:extLst>
          </p:cNvPr>
          <p:cNvSpPr/>
          <p:nvPr/>
        </p:nvSpPr>
        <p:spPr>
          <a:xfrm>
            <a:off x="6461514" y="1532889"/>
            <a:ext cx="4680000" cy="4320000"/>
          </a:xfrm>
          <a:prstGeom prst="roundRect">
            <a:avLst/>
          </a:prstGeom>
          <a:solidFill>
            <a:schemeClr val="tx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Real-time performance (low latency detection)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High reliability and availability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Scalability to handle increasing traffic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Security and isolation between components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Efficient data sharing between pods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  <a:ea typeface="DM Sans" pitchFamily="34" charset="-122"/>
                <a:cs typeface="DM Sans" pitchFamily="34" charset="-120"/>
              </a:rPr>
              <a:t>Strict security boundaries between all pod components</a:t>
            </a:r>
            <a:endParaRPr lang="en-US" dirty="0">
              <a:latin typeface="+mj-lt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B54A4A5-AAF2-2C90-BDC7-FC13D08B3A3F}"/>
              </a:ext>
            </a:extLst>
          </p:cNvPr>
          <p:cNvSpPr/>
          <p:nvPr/>
        </p:nvSpPr>
        <p:spPr>
          <a:xfrm>
            <a:off x="1050488" y="1532889"/>
            <a:ext cx="4680000" cy="4320000"/>
          </a:xfrm>
          <a:prstGeom prst="roundRect">
            <a:avLst/>
          </a:prstGeom>
          <a:solidFill>
            <a:schemeClr val="tx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Capture real-time network traffic using a sniffer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Convert raw traffic into structured data (CSV features)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Analyze traffic using an AI model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Detect malicious activities such as SSRF and scanning attacks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Automatically respond by redirecting traffic to a honeypot</a:t>
            </a:r>
          </a:p>
        </p:txBody>
      </p:sp>
      <p:sp>
        <p:nvSpPr>
          <p:cNvPr id="11" name="Google Shape;123;p16">
            <a:extLst>
              <a:ext uri="{FF2B5EF4-FFF2-40B4-BE49-F238E27FC236}">
                <a16:creationId xmlns:a16="http://schemas.microsoft.com/office/drawing/2014/main" id="{061E264E-639B-C7DE-9C67-2B062FEA914D}"/>
              </a:ext>
            </a:extLst>
          </p:cNvPr>
          <p:cNvSpPr txBox="1"/>
          <p:nvPr/>
        </p:nvSpPr>
        <p:spPr>
          <a:xfrm>
            <a:off x="2581090" y="1694472"/>
            <a:ext cx="1618796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Functional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132C2B1-FF9C-4566-759D-597BE7AFE0B1}"/>
              </a:ext>
            </a:extLst>
          </p:cNvPr>
          <p:cNvSpPr txBox="1"/>
          <p:nvPr/>
        </p:nvSpPr>
        <p:spPr>
          <a:xfrm>
            <a:off x="537028" y="802165"/>
            <a:ext cx="35305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 System Requirements</a:t>
            </a:r>
          </a:p>
        </p:txBody>
      </p:sp>
      <p:sp>
        <p:nvSpPr>
          <p:cNvPr id="28" name="Google Shape;123;p16">
            <a:extLst>
              <a:ext uri="{FF2B5EF4-FFF2-40B4-BE49-F238E27FC236}">
                <a16:creationId xmlns:a16="http://schemas.microsoft.com/office/drawing/2014/main" id="{C2B4349B-E8DB-F4BD-31A3-9EC0F4B43CC1}"/>
              </a:ext>
            </a:extLst>
          </p:cNvPr>
          <p:cNvSpPr txBox="1"/>
          <p:nvPr/>
        </p:nvSpPr>
        <p:spPr>
          <a:xfrm>
            <a:off x="7644773" y="1694471"/>
            <a:ext cx="2313482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dirty="0">
                <a:solidFill>
                  <a:schemeClr val="bg1"/>
                </a:solidFill>
                <a:latin typeface="Poppins"/>
                <a:cs typeface="Poppins"/>
                <a:sym typeface="Poppins"/>
              </a:rPr>
              <a:t>Non-Functional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89148A70-DD17-AECA-2143-6F3DD7F2B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9287"/>
            <a:ext cx="6461514" cy="720000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/>
              <a:t>2. System Analysis &amp; Design</a:t>
            </a:r>
          </a:p>
        </p:txBody>
      </p: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B3B0D48E-D37F-622D-9795-8B76D56622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/>
          <a:lstStyle/>
          <a:p>
            <a:fld id="{B5CEABB6-07DC-46E8-9B57-56EC44A396E5}" type="slidenum">
              <a:rPr lang="en-US" sz="1800" smtClean="0"/>
              <a:pPr/>
              <a:t>7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30403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/>
      <p:bldP spid="2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08221-C29B-07A3-B569-B8B466B10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9000000" cy="665019"/>
          </a:xfrm>
        </p:spPr>
        <p:txBody>
          <a:bodyPr>
            <a:noAutofit/>
          </a:bodyPr>
          <a:lstStyle/>
          <a:p>
            <a:pPr algn="ctr"/>
            <a:r>
              <a:rPr lang="en-US" sz="3600" b="1" dirty="0"/>
              <a:t>2. System Analysis &amp; Design cont.</a:t>
            </a:r>
          </a:p>
        </p:txBody>
      </p:sp>
      <p:sp>
        <p:nvSpPr>
          <p:cNvPr id="28" name="Trapezoid 27">
            <a:extLst>
              <a:ext uri="{FF2B5EF4-FFF2-40B4-BE49-F238E27FC236}">
                <a16:creationId xmlns:a16="http://schemas.microsoft.com/office/drawing/2014/main" id="{6F012A43-651C-8815-24AB-DB48C2350DCF}"/>
              </a:ext>
            </a:extLst>
          </p:cNvPr>
          <p:cNvSpPr/>
          <p:nvPr/>
        </p:nvSpPr>
        <p:spPr>
          <a:xfrm>
            <a:off x="217273" y="4559594"/>
            <a:ext cx="7412182" cy="1143000"/>
          </a:xfrm>
          <a:prstGeom prst="trapezoid">
            <a:avLst>
              <a:gd name="adj" fmla="val 79173"/>
            </a:avLst>
          </a:prstGeom>
          <a:solidFill>
            <a:schemeClr val="tx1"/>
          </a:solidFill>
          <a:ln w="38100">
            <a:solidFill>
              <a:srgbClr val="C00000"/>
            </a:solidFill>
          </a:ln>
          <a:effectLst>
            <a:outerShdw blurRad="76200" dist="12700" dir="8100000" sy="-23000" kx="8004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78B4633-141A-3151-F712-5264058F6ABD}"/>
              </a:ext>
            </a:extLst>
          </p:cNvPr>
          <p:cNvSpPr txBox="1"/>
          <p:nvPr/>
        </p:nvSpPr>
        <p:spPr>
          <a:xfrm>
            <a:off x="2748315" y="4882020"/>
            <a:ext cx="21082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i="1" dirty="0">
                <a:solidFill>
                  <a:schemeClr val="bg1"/>
                </a:solidFill>
              </a:rPr>
              <a:t>Packet Capture</a:t>
            </a:r>
          </a:p>
        </p:txBody>
      </p:sp>
      <p:sp>
        <p:nvSpPr>
          <p:cNvPr id="29" name="Trapezoid 28">
            <a:extLst>
              <a:ext uri="{FF2B5EF4-FFF2-40B4-BE49-F238E27FC236}">
                <a16:creationId xmlns:a16="http://schemas.microsoft.com/office/drawing/2014/main" id="{E91437D8-43D0-9EA8-FAA5-542562754CDA}"/>
              </a:ext>
            </a:extLst>
          </p:cNvPr>
          <p:cNvSpPr/>
          <p:nvPr/>
        </p:nvSpPr>
        <p:spPr>
          <a:xfrm>
            <a:off x="1422619" y="3539454"/>
            <a:ext cx="5001490" cy="903049"/>
          </a:xfrm>
          <a:prstGeom prst="trapezoid">
            <a:avLst>
              <a:gd name="adj" fmla="val 90396"/>
            </a:avLst>
          </a:prstGeom>
          <a:solidFill>
            <a:schemeClr val="tx1"/>
          </a:solidFill>
          <a:ln w="38100">
            <a:solidFill>
              <a:srgbClr val="C0000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65F809F-2D57-807B-0866-707107B7E028}"/>
              </a:ext>
            </a:extLst>
          </p:cNvPr>
          <p:cNvSpPr txBox="1"/>
          <p:nvPr/>
        </p:nvSpPr>
        <p:spPr>
          <a:xfrm>
            <a:off x="2081808" y="3739019"/>
            <a:ext cx="34412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dirty="0">
                <a:solidFill>
                  <a:schemeClr val="bg1"/>
                </a:solidFill>
              </a:rPr>
              <a:t>Feature Extraction</a:t>
            </a:r>
          </a:p>
        </p:txBody>
      </p:sp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5EB1A346-9DE1-181A-262D-49D744033787}"/>
              </a:ext>
            </a:extLst>
          </p:cNvPr>
          <p:cNvSpPr/>
          <p:nvPr/>
        </p:nvSpPr>
        <p:spPr>
          <a:xfrm>
            <a:off x="2526583" y="1862593"/>
            <a:ext cx="2821272" cy="1559770"/>
          </a:xfrm>
          <a:prstGeom prst="triangle">
            <a:avLst>
              <a:gd name="adj" fmla="val 49450"/>
            </a:avLst>
          </a:prstGeom>
          <a:solidFill>
            <a:schemeClr val="tx1"/>
          </a:solidFill>
          <a:ln w="3810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7890630-DEF2-241F-A63A-8BBC0E68F32B}"/>
              </a:ext>
            </a:extLst>
          </p:cNvPr>
          <p:cNvSpPr txBox="1"/>
          <p:nvPr/>
        </p:nvSpPr>
        <p:spPr>
          <a:xfrm>
            <a:off x="3084882" y="2712421"/>
            <a:ext cx="17716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i="1" dirty="0">
                <a:solidFill>
                  <a:schemeClr val="bg1"/>
                </a:solidFill>
              </a:rPr>
              <a:t>AI Detection</a:t>
            </a: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E4F609EB-9918-6A02-2F15-1EC2619277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/>
          <a:lstStyle/>
          <a:p>
            <a:fld id="{B5CEABB6-07DC-46E8-9B57-56EC44A396E5}" type="slidenum">
              <a:rPr lang="en-US" sz="1800" smtClean="0"/>
              <a:pPr/>
              <a:t>8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760417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7" grpId="0"/>
      <p:bldP spid="29" grpId="0" animBg="1"/>
      <p:bldP spid="32" grpId="0"/>
      <p:bldP spid="33" grpId="0" animBg="1"/>
      <p:bldP spid="3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E1B8E8FB-C9E3-A6AB-4F2E-43D3079AB946}"/>
              </a:ext>
            </a:extLst>
          </p:cNvPr>
          <p:cNvSpPr txBox="1"/>
          <p:nvPr/>
        </p:nvSpPr>
        <p:spPr>
          <a:xfrm>
            <a:off x="1229932" y="666972"/>
            <a:ext cx="72906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The System Architecture has multiple components: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658FD995-E4C7-AB64-45D7-D4CF42A18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9000000" cy="720000"/>
          </a:xfrm>
        </p:spPr>
        <p:txBody>
          <a:bodyPr>
            <a:noAutofit/>
          </a:bodyPr>
          <a:lstStyle/>
          <a:p>
            <a:pPr algn="ctr"/>
            <a:r>
              <a:rPr lang="en-US" sz="3600" b="1" dirty="0"/>
              <a:t>2. System Analysis &amp; Design cont.</a:t>
            </a:r>
          </a:p>
        </p:txBody>
      </p: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DF152E1E-6587-345B-1171-13B0750A2E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/>
          <a:lstStyle/>
          <a:p>
            <a:fld id="{B5CEABB6-07DC-46E8-9B57-56EC44A396E5}" type="slidenum">
              <a:rPr lang="en-US" sz="1800" smtClean="0"/>
              <a:pPr/>
              <a:t>9</a:t>
            </a:fld>
            <a:endParaRPr lang="en-US" sz="18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912A8B4-74FA-7204-0908-78C709CCF97C}"/>
              </a:ext>
            </a:extLst>
          </p:cNvPr>
          <p:cNvSpPr/>
          <p:nvPr/>
        </p:nvSpPr>
        <p:spPr>
          <a:xfrm>
            <a:off x="8999999" y="1371600"/>
            <a:ext cx="2202873" cy="4114800"/>
          </a:xfrm>
          <a:prstGeom prst="roundRect">
            <a:avLst>
              <a:gd name="adj" fmla="val 4717"/>
            </a:avLst>
          </a:prstGeom>
          <a:solidFill>
            <a:schemeClr val="tx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i="1" dirty="0"/>
              <a:t>This design ensures automation, scalability, and fast response to threats.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B8DDD6-3F8F-6FA1-F65D-86AFB2A11403}"/>
              </a:ext>
            </a:extLst>
          </p:cNvPr>
          <p:cNvSpPr txBox="1"/>
          <p:nvPr/>
        </p:nvSpPr>
        <p:spPr>
          <a:xfrm>
            <a:off x="1232263" y="1285068"/>
            <a:ext cx="72906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Sniffer Module:</a:t>
            </a:r>
          </a:p>
          <a:p>
            <a:r>
              <a:rPr lang="en-US" dirty="0"/>
              <a:t>	Captures live network packets and stores them as PCAP files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855A0A-570C-9884-7F63-DE5B8BB7258B}"/>
              </a:ext>
            </a:extLst>
          </p:cNvPr>
          <p:cNvSpPr txBox="1"/>
          <p:nvPr/>
        </p:nvSpPr>
        <p:spPr>
          <a:xfrm>
            <a:off x="1232262" y="1930409"/>
            <a:ext cx="70135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Flow Processing Module (CICFlowMeter):</a:t>
            </a:r>
          </a:p>
          <a:p>
            <a:r>
              <a:rPr lang="en-US" dirty="0"/>
              <a:t>	Converts PCAP files into CSV format with extracted features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763E1D-8CCB-19BC-BD18-FD6821C64812}"/>
              </a:ext>
            </a:extLst>
          </p:cNvPr>
          <p:cNvSpPr txBox="1"/>
          <p:nvPr/>
        </p:nvSpPr>
        <p:spPr>
          <a:xfrm>
            <a:off x="1232261" y="2575750"/>
            <a:ext cx="72906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AI Detection Module:</a:t>
            </a:r>
          </a:p>
          <a:p>
            <a:r>
              <a:rPr lang="en-US" dirty="0"/>
              <a:t>	Uses a trained ML model to classify traffic as normal or attack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462F0B2-2834-4D79-C26F-73707A644F60}"/>
              </a:ext>
            </a:extLst>
          </p:cNvPr>
          <p:cNvSpPr txBox="1"/>
          <p:nvPr/>
        </p:nvSpPr>
        <p:spPr>
          <a:xfrm>
            <a:off x="1232262" y="3221091"/>
            <a:ext cx="72906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Security Controller:</a:t>
            </a:r>
          </a:p>
          <a:p>
            <a:r>
              <a:rPr lang="en-US" dirty="0"/>
              <a:t>	Monitors outputs and triggers automated response actions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B445242-EB50-73A8-313B-9648A741976A}"/>
              </a:ext>
            </a:extLst>
          </p:cNvPr>
          <p:cNvSpPr txBox="1"/>
          <p:nvPr/>
        </p:nvSpPr>
        <p:spPr>
          <a:xfrm>
            <a:off x="1232261" y="3892023"/>
            <a:ext cx="66117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Honeypot System:</a:t>
            </a:r>
          </a:p>
          <a:p>
            <a:r>
              <a:rPr lang="en-US" dirty="0"/>
              <a:t>	A decoy environment to trap and analyze attackers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09BCCFC-18A8-CD0D-A474-2107C1BF3890}"/>
              </a:ext>
            </a:extLst>
          </p:cNvPr>
          <p:cNvSpPr txBox="1"/>
          <p:nvPr/>
        </p:nvSpPr>
        <p:spPr>
          <a:xfrm>
            <a:off x="1232261" y="4537364"/>
            <a:ext cx="61098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Shared Storage (PVC):</a:t>
            </a:r>
          </a:p>
          <a:p>
            <a:r>
              <a:rPr lang="en-US" dirty="0"/>
              <a:t>	Ensures all components access the same data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B60695B-A644-DFFA-98EC-E55234DBFD4F}"/>
              </a:ext>
            </a:extLst>
          </p:cNvPr>
          <p:cNvSpPr/>
          <p:nvPr/>
        </p:nvSpPr>
        <p:spPr>
          <a:xfrm>
            <a:off x="1229932" y="4533404"/>
            <a:ext cx="7512286" cy="11477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Real-time Storage:</a:t>
            </a:r>
          </a:p>
          <a:p>
            <a:r>
              <a:rPr lang="en-US" dirty="0">
                <a:solidFill>
                  <a:schemeClr val="tx1"/>
                </a:solidFill>
              </a:rPr>
              <a:t>	Using a script in powershell called kubectl-cp that makes a 	powershell sync.</a:t>
            </a:r>
          </a:p>
          <a:p>
            <a:r>
              <a:rPr lang="en-US" dirty="0">
                <a:solidFill>
                  <a:schemeClr val="tx1"/>
                </a:solidFill>
              </a:rPr>
              <a:t>	Decrease latency from 30 seconds to 2 seconds.</a:t>
            </a:r>
          </a:p>
        </p:txBody>
      </p:sp>
    </p:spTree>
    <p:extLst>
      <p:ext uri="{BB962C8B-B14F-4D97-AF65-F5344CB8AC3E}">
        <p14:creationId xmlns:p14="http://schemas.microsoft.com/office/powerpoint/2010/main" val="569699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EAA13-E02F-EB47-E510-E3F48A95F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7809" y="0"/>
            <a:ext cx="7135091" cy="720000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cs typeface="Raavi" panose="020B0502040204020203" pitchFamily="34" charset="0"/>
              </a:rPr>
              <a:t>3. </a:t>
            </a:r>
            <a:r>
              <a:rPr lang="en-US" sz="3600" b="1" dirty="0">
                <a:ea typeface="Dela Gothic One" pitchFamily="34" charset="-122"/>
                <a:cs typeface="Raavi" panose="020B0502040204020203" pitchFamily="34" charset="0"/>
              </a:rPr>
              <a:t>Techniques &amp; Algorithms</a:t>
            </a:r>
            <a:endParaRPr lang="en-US" sz="3600" b="1" dirty="0">
              <a:cs typeface="Raavi" panose="020B0502040204020203" pitchFamily="34" charset="0"/>
            </a:endParaRPr>
          </a:p>
        </p:txBody>
      </p:sp>
      <p:sp>
        <p:nvSpPr>
          <p:cNvPr id="8" name="Google Shape;175;p19">
            <a:extLst>
              <a:ext uri="{FF2B5EF4-FFF2-40B4-BE49-F238E27FC236}">
                <a16:creationId xmlns:a16="http://schemas.microsoft.com/office/drawing/2014/main" id="{0AE358CA-CD31-4867-AAE7-A9C8AFED80DE}"/>
              </a:ext>
            </a:extLst>
          </p:cNvPr>
          <p:cNvSpPr txBox="1"/>
          <p:nvPr/>
        </p:nvSpPr>
        <p:spPr>
          <a:xfrm>
            <a:off x="700228" y="1454383"/>
            <a:ext cx="4815127" cy="4001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0" b="1" i="0" u="none" strike="noStrike" cap="none" dirty="0">
                <a:solidFill>
                  <a:schemeClr val="bg1"/>
                </a:solidFill>
                <a:highlight>
                  <a:srgbClr val="800000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NB</a:t>
            </a:r>
            <a:endParaRPr sz="3200" dirty="0">
              <a:solidFill>
                <a:schemeClr val="bg1"/>
              </a:solidFill>
              <a:highlight>
                <a:srgbClr val="800000"/>
              </a:highlight>
            </a:endParaRPr>
          </a:p>
        </p:txBody>
      </p:sp>
      <p:sp>
        <p:nvSpPr>
          <p:cNvPr id="9" name="Google Shape;176;p19">
            <a:extLst>
              <a:ext uri="{FF2B5EF4-FFF2-40B4-BE49-F238E27FC236}">
                <a16:creationId xmlns:a16="http://schemas.microsoft.com/office/drawing/2014/main" id="{388D43C9-FC37-4435-FFA5-07536783B9D6}"/>
              </a:ext>
            </a:extLst>
          </p:cNvPr>
          <p:cNvSpPr txBox="1"/>
          <p:nvPr/>
        </p:nvSpPr>
        <p:spPr>
          <a:xfrm>
            <a:off x="884138" y="4632430"/>
            <a:ext cx="4447309" cy="787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u="none" strike="noStrike" cap="none" dirty="0">
                <a:solidFill>
                  <a:srgbClr val="C00000"/>
                </a:solidFill>
                <a:highlight>
                  <a:srgbClr val="C0C0C0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Naive Bayes Algorithm</a:t>
            </a:r>
            <a:endParaRPr sz="3600" b="1" dirty="0">
              <a:solidFill>
                <a:srgbClr val="C00000"/>
              </a:solidFill>
              <a:highlight>
                <a:srgbClr val="C0C0C0"/>
              </a:highlight>
            </a:endParaRPr>
          </a:p>
        </p:txBody>
      </p:sp>
      <p:sp>
        <p:nvSpPr>
          <p:cNvPr id="10" name="Google Shape;177;p19">
            <a:extLst>
              <a:ext uri="{FF2B5EF4-FFF2-40B4-BE49-F238E27FC236}">
                <a16:creationId xmlns:a16="http://schemas.microsoft.com/office/drawing/2014/main" id="{20A1EEF1-4377-4A03-6B4C-DFC998401AF8}"/>
              </a:ext>
            </a:extLst>
          </p:cNvPr>
          <p:cNvSpPr txBox="1"/>
          <p:nvPr/>
        </p:nvSpPr>
        <p:spPr>
          <a:xfrm>
            <a:off x="6077070" y="1825201"/>
            <a:ext cx="529066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latin typeface="+mj-lt"/>
                <a:ea typeface="Poppins"/>
                <a:cs typeface="Poppins"/>
                <a:sym typeface="Poppins"/>
              </a:rPr>
              <a:t>Decision &amp; Logic</a:t>
            </a:r>
            <a:endParaRPr sz="2000" dirty="0">
              <a:latin typeface="+mj-lt"/>
            </a:endParaRPr>
          </a:p>
        </p:txBody>
      </p:sp>
      <p:sp>
        <p:nvSpPr>
          <p:cNvPr id="11" name="Google Shape;178;p19">
            <a:extLst>
              <a:ext uri="{FF2B5EF4-FFF2-40B4-BE49-F238E27FC236}">
                <a16:creationId xmlns:a16="http://schemas.microsoft.com/office/drawing/2014/main" id="{164AEF67-F566-1BE7-25C9-64AD8FA0BD7B}"/>
              </a:ext>
            </a:extLst>
          </p:cNvPr>
          <p:cNvSpPr txBox="1"/>
          <p:nvPr/>
        </p:nvSpPr>
        <p:spPr>
          <a:xfrm>
            <a:off x="6114931" y="2374549"/>
            <a:ext cx="5504734" cy="2271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</a:rPr>
              <a:t>Uses a Naive Bayes classification model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</a:rPr>
              <a:t>Preprocessing includes scaling and feature alignment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</a:rPr>
              <a:t>Classifies traffic into Normal or Attack (SSRF / scanning)</a:t>
            </a:r>
          </a:p>
          <a:p>
            <a:pPr marL="285750" marR="0" lvl="0" indent="-28575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0" i="0" u="none" strike="noStrike" cap="none" dirty="0">
                <a:latin typeface="+mj-lt"/>
                <a:ea typeface="Lato"/>
                <a:cs typeface="Lato"/>
                <a:sym typeface="Lato"/>
              </a:rPr>
              <a:t>The system monitors the output of the AI Detection Module. If malicious behavior is classified:</a:t>
            </a:r>
            <a:endParaRPr sz="2400" dirty="0">
              <a:latin typeface="+mj-lt"/>
            </a:endParaRPr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21BBFD64-E1C7-6823-550D-E54706C19D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/>
          <a:lstStyle/>
          <a:p>
            <a:fld id="{B5CEABB6-07DC-46E8-9B57-56EC44A396E5}" type="slidenum">
              <a:rPr lang="en-US" sz="1800" smtClean="0"/>
              <a:pPr/>
              <a:t>10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517447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F6EF25-1A43-B685-800B-85D36602EF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/>
          <a:lstStyle/>
          <a:p>
            <a:fld id="{B5CEABB6-07DC-46E8-9B57-56EC44A396E5}" type="slidenum">
              <a:rPr lang="en-US" sz="1800" smtClean="0"/>
              <a:pPr/>
              <a:t>11</a:t>
            </a:fld>
            <a:endParaRPr lang="en-US" sz="1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CC6FDB0-4C52-66BF-0BBE-8B8C7862B968}"/>
              </a:ext>
            </a:extLst>
          </p:cNvPr>
          <p:cNvSpPr txBox="1"/>
          <p:nvPr/>
        </p:nvSpPr>
        <p:spPr>
          <a:xfrm>
            <a:off x="900918" y="757575"/>
            <a:ext cx="1111134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i="1" dirty="0">
                <a:effectLst/>
                <a:latin typeface="+mj-lt"/>
                <a:ea typeface="Times New Roman" panose="02020603050405020304" pitchFamily="18" charset="0"/>
              </a:rPr>
              <a:t>The experiment was conducted in a controlled Kubernetes environment using a </a:t>
            </a:r>
            <a:r>
              <a:rPr lang="en-US" sz="2000" b="1" i="1" dirty="0">
                <a:solidFill>
                  <a:srgbClr val="C00000"/>
                </a:solidFill>
                <a:effectLst/>
                <a:latin typeface="+mj-lt"/>
                <a:ea typeface="Times New Roman" panose="02020603050405020304" pitchFamily="18" charset="0"/>
              </a:rPr>
              <a:t>multi-node cluster</a:t>
            </a:r>
            <a:r>
              <a:rPr lang="en-US" sz="2000" b="1" i="1" dirty="0">
                <a:effectLst/>
                <a:latin typeface="+mj-lt"/>
                <a:ea typeface="Times New Roman" panose="02020603050405020304" pitchFamily="18" charset="0"/>
              </a:rPr>
              <a:t>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E8DC185-0ECE-2EED-4E1B-34E707EF3636}"/>
              </a:ext>
            </a:extLst>
          </p:cNvPr>
          <p:cNvSpPr txBox="1"/>
          <p:nvPr/>
        </p:nvSpPr>
        <p:spPr>
          <a:xfrm>
            <a:off x="3430901" y="0"/>
            <a:ext cx="4110997" cy="7200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kern="10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4. Experiment Setup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F922D3E-4F7D-5445-C791-88B74304100D}"/>
              </a:ext>
            </a:extLst>
          </p:cNvPr>
          <p:cNvSpPr/>
          <p:nvPr/>
        </p:nvSpPr>
        <p:spPr>
          <a:xfrm>
            <a:off x="6705602" y="1447797"/>
            <a:ext cx="4572000" cy="3782291"/>
          </a:xfrm>
          <a:prstGeom prst="roundRect">
            <a:avLst>
              <a:gd name="adj" fmla="val 6685"/>
            </a:avLst>
          </a:prstGeom>
          <a:solidFill>
            <a:schemeClr val="tx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buSzPts val="1000"/>
              <a:tabLst>
                <a:tab pos="457200" algn="l"/>
              </a:tabLst>
            </a:pPr>
            <a:r>
              <a:rPr lang="en-US" sz="2400" dirty="0">
                <a:highlight>
                  <a:srgbClr val="800000"/>
                </a:highlight>
                <a:latin typeface="+mj-lt"/>
                <a:ea typeface="Times New Roman" panose="02020603050405020304" pitchFamily="18" charset="0"/>
              </a:rPr>
              <a:t>Core components deployed include:</a:t>
            </a:r>
          </a:p>
          <a:p>
            <a:pPr lvl="0" algn="ctr">
              <a:buSzPts val="1000"/>
              <a:tabLst>
                <a:tab pos="457200" algn="l"/>
              </a:tabLst>
            </a:pPr>
            <a:endParaRPr lang="en-US" sz="3200" dirty="0">
              <a:latin typeface="+mj-lt"/>
              <a:ea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00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Sniffer for capturing traffic</a:t>
            </a: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00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CICFlowMeter for feature extraction</a:t>
            </a: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00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AI detection service</a:t>
            </a: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00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Security controller</a:t>
            </a: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00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Honeypot and real application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59CFB9E-4975-FEA1-1CD5-BDBA870D079A}"/>
              </a:ext>
            </a:extLst>
          </p:cNvPr>
          <p:cNvSpPr/>
          <p:nvPr/>
        </p:nvSpPr>
        <p:spPr>
          <a:xfrm>
            <a:off x="914400" y="1447797"/>
            <a:ext cx="4572000" cy="3782291"/>
          </a:xfrm>
          <a:prstGeom prst="roundRect">
            <a:avLst>
              <a:gd name="adj" fmla="val 6685"/>
            </a:avLst>
          </a:prstGeom>
          <a:solidFill>
            <a:schemeClr val="tx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highlight>
                  <a:srgbClr val="800000"/>
                </a:highlight>
              </a:rPr>
              <a:t>Setup Details:</a:t>
            </a:r>
          </a:p>
          <a:p>
            <a:pPr algn="ctr"/>
            <a:endParaRPr lang="en-US" sz="4000" dirty="0">
              <a:highlight>
                <a:srgbClr val="800000"/>
              </a:highlight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 Kubernetes cluster was created with one control plane and multiple worker nodes</a:t>
            </a: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 Persistent Volume (PV) and Persistent Volume Claim (PVC) were configured for shared storage</a:t>
            </a: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Multiple namespaces were used to isolate components (e.g., security, production, attacker)</a:t>
            </a: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An attacker pod was deployed to simulate malicious traffic (e.g., scanning attacks)</a:t>
            </a:r>
            <a:endParaRPr lang="en-US" sz="2800" dirty="0">
              <a:effectLst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2F14A25-AFE5-13D7-5E42-CBC862D4A1E7}"/>
              </a:ext>
            </a:extLst>
          </p:cNvPr>
          <p:cNvSpPr txBox="1"/>
          <p:nvPr/>
        </p:nvSpPr>
        <p:spPr>
          <a:xfrm>
            <a:off x="900918" y="5338061"/>
            <a:ext cx="108200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i="1" dirty="0">
                <a:effectLst/>
                <a:latin typeface="+mj-lt"/>
                <a:ea typeface="Times New Roman" panose="02020603050405020304" pitchFamily="18" charset="0"/>
              </a:rPr>
              <a:t>This setup ensures a realistic environment for testing real-time detection and response </a:t>
            </a:r>
            <a:r>
              <a:rPr lang="en-US" b="1" i="1" dirty="0">
                <a:solidFill>
                  <a:srgbClr val="C00000"/>
                </a:solidFill>
                <a:effectLst/>
                <a:latin typeface="+mj-lt"/>
                <a:ea typeface="Times New Roman" panose="02020603050405020304" pitchFamily="18" charset="0"/>
              </a:rPr>
              <a:t>mechanisms</a:t>
            </a:r>
            <a:r>
              <a:rPr lang="en-US" i="1" dirty="0">
                <a:effectLst/>
                <a:latin typeface="+mj-lt"/>
                <a:ea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49261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8" grpId="0" animBg="1"/>
      <p:bldP spid="2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9D2502-F7A7-039F-01A0-59462ADFF6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/>
          <a:lstStyle/>
          <a:p>
            <a:fld id="{B5CEABB6-07DC-46E8-9B57-56EC44A396E5}" type="slidenum">
              <a:rPr lang="en-US" sz="1800" smtClean="0"/>
              <a:pPr/>
              <a:t>12</a:t>
            </a:fld>
            <a:endParaRPr lang="en-US" sz="1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B1643DB-DCD1-D5BA-3EE4-663890013CBA}"/>
              </a:ext>
            </a:extLst>
          </p:cNvPr>
          <p:cNvSpPr txBox="1"/>
          <p:nvPr/>
        </p:nvSpPr>
        <p:spPr>
          <a:xfrm>
            <a:off x="651164" y="1129744"/>
            <a:ext cx="4655127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dirty="0">
                <a:effectLst/>
                <a:latin typeface="+mj-lt"/>
                <a:ea typeface="Times New Roman" panose="02020603050405020304" pitchFamily="18" charset="0"/>
              </a:rPr>
              <a:t>The system was implemented as an integrated pipeline combining networking, AI, and Kubernetes automation.</a:t>
            </a:r>
          </a:p>
          <a:p>
            <a:pPr>
              <a:buNone/>
            </a:pPr>
            <a:r>
              <a:rPr lang="en-US" sz="1800" b="1" dirty="0">
                <a:effectLst/>
                <a:latin typeface="+mj-lt"/>
                <a:ea typeface="Times New Roman" panose="02020603050405020304" pitchFamily="18" charset="0"/>
              </a:rPr>
              <a:t>Execution Flow:</a:t>
            </a:r>
            <a:endParaRPr lang="en-US" sz="1800" dirty="0">
              <a:effectLst/>
              <a:latin typeface="+mj-lt"/>
              <a:ea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US" sz="1800" dirty="0">
                <a:effectLst/>
                <a:latin typeface="+mj-lt"/>
                <a:ea typeface="Times New Roman" panose="02020603050405020304" pitchFamily="18" charset="0"/>
              </a:rPr>
              <a:t>Traffic is captured and stored</a:t>
            </a:r>
          </a:p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US" sz="1800" dirty="0">
                <a:effectLst/>
                <a:latin typeface="+mj-lt"/>
                <a:ea typeface="Times New Roman" panose="02020603050405020304" pitchFamily="18" charset="0"/>
              </a:rPr>
              <a:t>Data is converted into features</a:t>
            </a:r>
          </a:p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US" sz="1800" dirty="0">
                <a:effectLst/>
                <a:latin typeface="+mj-lt"/>
                <a:ea typeface="Times New Roman" panose="02020603050405020304" pitchFamily="18" charset="0"/>
              </a:rPr>
              <a:t>AI analyzes the data</a:t>
            </a:r>
          </a:p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US" sz="1800" dirty="0">
                <a:effectLst/>
                <a:latin typeface="+mj-lt"/>
                <a:ea typeface="Times New Roman" panose="02020603050405020304" pitchFamily="18" charset="0"/>
              </a:rPr>
              <a:t>Controller detects attack</a:t>
            </a:r>
          </a:p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US" sz="1800" dirty="0">
                <a:effectLst/>
                <a:latin typeface="+mj-lt"/>
                <a:ea typeface="Times New Roman" panose="02020603050405020304" pitchFamily="18" charset="0"/>
              </a:rPr>
              <a:t>Service is patched</a:t>
            </a:r>
          </a:p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US" sz="1800" dirty="0">
                <a:effectLst/>
                <a:latin typeface="+mj-lt"/>
                <a:ea typeface="Times New Roman" panose="02020603050405020304" pitchFamily="18" charset="0"/>
              </a:rPr>
              <a:t>Traffic is redirected to honeypot</a:t>
            </a:r>
          </a:p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endParaRPr lang="en-US" dirty="0">
              <a:latin typeface="+mj-lt"/>
              <a:ea typeface="Times New Roman" panose="02020603050405020304" pitchFamily="18" charset="0"/>
            </a:endParaRPr>
          </a:p>
          <a:p>
            <a:pPr lvl="0">
              <a:tabLst>
                <a:tab pos="457200" algn="l"/>
              </a:tabLst>
            </a:pPr>
            <a:endParaRPr lang="en-US" sz="1800" dirty="0">
              <a:effectLst/>
              <a:latin typeface="+mj-lt"/>
              <a:ea typeface="Times New Roman" panose="02020603050405020304" pitchFamily="18" charset="0"/>
            </a:endParaRPr>
          </a:p>
          <a:p>
            <a:pPr lvl="0">
              <a:tabLst>
                <a:tab pos="457200" algn="l"/>
              </a:tabLst>
            </a:pPr>
            <a:endParaRPr lang="en-US" sz="1800" dirty="0">
              <a:effectLst/>
              <a:latin typeface="+mj-lt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en-US" sz="1800" b="1" i="1" dirty="0">
                <a:effectLst/>
                <a:latin typeface="+mj-lt"/>
                <a:ea typeface="Times New Roman" panose="02020603050405020304" pitchFamily="18" charset="0"/>
              </a:rPr>
              <a:t>This implementation demonstrates a fully automated, real-time cybersecurity defense system.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0E9156F-D110-7ECF-5539-9E07E0B5EDF7}"/>
              </a:ext>
            </a:extLst>
          </p:cNvPr>
          <p:cNvSpPr txBox="1"/>
          <p:nvPr/>
        </p:nvSpPr>
        <p:spPr>
          <a:xfrm>
            <a:off x="0" y="-2"/>
            <a:ext cx="7815263" cy="72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kern="100" dirty="0">
                <a:latin typeface="+mj-lt"/>
                <a:ea typeface="Times New Roman" panose="02020603050405020304" pitchFamily="18" charset="0"/>
                <a:cs typeface="Segoe UI Emoji" panose="020B0502040204020203" pitchFamily="34" charset="0"/>
              </a:rPr>
              <a:t>5. </a:t>
            </a:r>
            <a:r>
              <a:rPr lang="en-US" sz="3600" b="1" kern="10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Practical Work and Implementation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5D075C7-14FE-68A6-9880-DF1ED7F247DC}"/>
              </a:ext>
            </a:extLst>
          </p:cNvPr>
          <p:cNvSpPr/>
          <p:nvPr/>
        </p:nvSpPr>
        <p:spPr>
          <a:xfrm>
            <a:off x="5840375" y="906874"/>
            <a:ext cx="4655127" cy="5507781"/>
          </a:xfrm>
          <a:prstGeom prst="roundRect">
            <a:avLst>
              <a:gd name="adj" fmla="val 9636"/>
            </a:avLst>
          </a:prstGeom>
          <a:solidFill>
            <a:schemeClr val="tx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2800" b="1" dirty="0">
                <a:highlight>
                  <a:srgbClr val="800000"/>
                </a:highlight>
                <a:ea typeface="Times New Roman" panose="02020603050405020304" pitchFamily="18" charset="0"/>
              </a:rPr>
              <a:t>Implementation Steps:</a:t>
            </a:r>
          </a:p>
          <a:p>
            <a:pPr algn="ctr">
              <a:buNone/>
            </a:pPr>
            <a:endParaRPr lang="en-US" sz="2800" dirty="0">
              <a:highlight>
                <a:srgbClr val="800000"/>
              </a:highlight>
              <a:ea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>
                <a:ea typeface="Times New Roman" panose="02020603050405020304" pitchFamily="18" charset="0"/>
              </a:rPr>
              <a:t>Captured live traffic using tcpdump inside a Kubernetes pod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>
                <a:ea typeface="Times New Roman" panose="02020603050405020304" pitchFamily="18" charset="0"/>
              </a:rPr>
              <a:t>Processed captured data using CICFlowMeter to generate CSV files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>
                <a:ea typeface="Times New Roman" panose="02020603050405020304" pitchFamily="18" charset="0"/>
              </a:rPr>
              <a:t>Developed a Flask-based API to host the trained machine learning model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>
                <a:ea typeface="Times New Roman" panose="02020603050405020304" pitchFamily="18" charset="0"/>
              </a:rPr>
              <a:t>Implemented a Python-based security controller to monitor outputs and send requests to the AI service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>
                <a:ea typeface="Times New Roman" panose="02020603050405020304" pitchFamily="18" charset="0"/>
              </a:rPr>
              <a:t>Integrated Kubernetes API to dynamically patch services based on detection results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>
                <a:ea typeface="Times New Roman" panose="02020603050405020304" pitchFamily="18" charset="0"/>
              </a:rPr>
              <a:t>Deployed a honeypot environment to redirect and trap malicious traffic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>
                <a:ea typeface="Times New Roman" panose="02020603050405020304" pitchFamily="18" charset="0"/>
              </a:rPr>
              <a:t>Built a real-time monitoring dashboard to visualize system status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8406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A4018-86DA-2928-C7FD-E06028C1A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DBBCB5-57A4-9543-F356-8C94AFF5EC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/>
          <a:lstStyle/>
          <a:p>
            <a:fld id="{B5CEABB6-07DC-46E8-9B57-56EC44A396E5}" type="slidenum">
              <a:rPr lang="en-US" sz="1800" smtClean="0"/>
              <a:pPr/>
              <a:t>13</a:t>
            </a:fld>
            <a:endParaRPr lang="en-US" sz="1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2B264D-3BE5-CADB-CD6D-FE58B77CE9C7}"/>
              </a:ext>
            </a:extLst>
          </p:cNvPr>
          <p:cNvSpPr txBox="1"/>
          <p:nvPr/>
        </p:nvSpPr>
        <p:spPr>
          <a:xfrm>
            <a:off x="651164" y="1129744"/>
            <a:ext cx="993370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+mj-lt"/>
                <a:ea typeface="Times New Roman" panose="02020603050405020304" pitchFamily="18" charset="0"/>
              </a:rPr>
              <a:t>1.</a:t>
            </a:r>
            <a:r>
              <a:rPr lang="en-US" dirty="0">
                <a:latin typeface="+mj-lt"/>
                <a:ea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C00000"/>
                </a:solidFill>
                <a:latin typeface="+mj-lt"/>
                <a:ea typeface="Times New Roman" panose="02020603050405020304" pitchFamily="18" charset="0"/>
              </a:rPr>
              <a:t>Module Objective </a:t>
            </a:r>
            <a:br>
              <a:rPr lang="en-US" dirty="0">
                <a:latin typeface="+mj-lt"/>
                <a:ea typeface="Times New Roman" panose="02020603050405020304" pitchFamily="18" charset="0"/>
              </a:rPr>
            </a:br>
            <a:r>
              <a:rPr lang="en-US" dirty="0">
                <a:latin typeface="+mj-lt"/>
                <a:ea typeface="Times New Roman" panose="02020603050405020304" pitchFamily="18" charset="0"/>
              </a:rPr>
              <a:t>Discovery </a:t>
            </a:r>
            <a:r>
              <a:rPr lang="en-US" dirty="0"/>
              <a:t>active, intelligent threat detection against SSRF in K8s</a:t>
            </a:r>
            <a:endParaRPr lang="en-US" sz="1800" b="1" i="1" dirty="0">
              <a:effectLst/>
              <a:latin typeface="+mj-lt"/>
              <a:ea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C2EDE02-794A-44A6-7A7B-A063EBFD84EC}"/>
              </a:ext>
            </a:extLst>
          </p:cNvPr>
          <p:cNvSpPr txBox="1"/>
          <p:nvPr/>
        </p:nvSpPr>
        <p:spPr>
          <a:xfrm>
            <a:off x="0" y="-15350"/>
            <a:ext cx="9358062" cy="72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kern="100" dirty="0">
                <a:latin typeface="+mj-lt"/>
                <a:ea typeface="Times New Roman" panose="02020603050405020304" pitchFamily="18" charset="0"/>
                <a:cs typeface="Segoe UI Emoji" panose="020B0502040204020203" pitchFamily="34" charset="0"/>
              </a:rPr>
              <a:t>5. </a:t>
            </a:r>
            <a:r>
              <a:rPr lang="en-US" sz="3600" b="1" kern="10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Practical Work and Implementation Cont.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E23856-3FBC-526C-65D8-5A7AAA04BA48}"/>
              </a:ext>
            </a:extLst>
          </p:cNvPr>
          <p:cNvSpPr txBox="1"/>
          <p:nvPr/>
        </p:nvSpPr>
        <p:spPr>
          <a:xfrm>
            <a:off x="641114" y="3429000"/>
            <a:ext cx="993370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2.</a:t>
            </a:r>
            <a:r>
              <a:rPr lang="en-US" dirty="0"/>
              <a:t> </a:t>
            </a:r>
            <a:r>
              <a:rPr lang="en-US" b="1" dirty="0">
                <a:solidFill>
                  <a:srgbClr val="C00000"/>
                </a:solidFill>
              </a:rPr>
              <a:t>Core Methodology </a:t>
            </a:r>
            <a:br>
              <a:rPr lang="ar-EG" b="1" dirty="0">
                <a:solidFill>
                  <a:srgbClr val="C00000"/>
                </a:solidFill>
              </a:rPr>
            </a:br>
            <a:r>
              <a:rPr lang="en-US" b="1" dirty="0"/>
              <a:t>Targeted Task</a:t>
            </a:r>
            <a:r>
              <a:rPr lang="en-US" dirty="0"/>
              <a:t>: Binary classification (Benign vs. SSRF) </a:t>
            </a:r>
            <a:br>
              <a:rPr lang="ar-EG" dirty="0"/>
            </a:br>
            <a:endParaRPr lang="en-US" dirty="0"/>
          </a:p>
          <a:p>
            <a:r>
              <a:rPr lang="en-US" b="1" dirty="0"/>
              <a:t>Algorithm</a:t>
            </a:r>
            <a:r>
              <a:rPr lang="en-US" dirty="0"/>
              <a:t>: Gaussian Naive Bayes for O(n) efficiency and low latency</a:t>
            </a:r>
            <a:br>
              <a:rPr lang="en-US" dirty="0"/>
            </a:br>
            <a:br>
              <a:rPr lang="en-US" dirty="0"/>
            </a:br>
            <a:r>
              <a:rPr lang="en-US" b="1" dirty="0"/>
              <a:t>Data Optimization</a:t>
            </a:r>
            <a:r>
              <a:rPr lang="en-US" dirty="0"/>
              <a:t>: Strict class balancing and Standard Scaler application</a:t>
            </a:r>
            <a:br>
              <a:rPr lang="ar-EG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2608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651B76-7751-3B76-BA7E-07CF6AB83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D72646-A31D-265B-478A-EF87F6C98C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/>
          <a:lstStyle/>
          <a:p>
            <a:fld id="{B5CEABB6-07DC-46E8-9B57-56EC44A396E5}" type="slidenum">
              <a:rPr lang="en-US" sz="1800" smtClean="0"/>
              <a:pPr/>
              <a:t>14</a:t>
            </a:fld>
            <a:endParaRPr lang="en-US" sz="1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4ED7C5-77EE-0EA1-D018-2F96FD81F24B}"/>
              </a:ext>
            </a:extLst>
          </p:cNvPr>
          <p:cNvSpPr txBox="1"/>
          <p:nvPr/>
        </p:nvSpPr>
        <p:spPr>
          <a:xfrm>
            <a:off x="363894" y="2062065"/>
            <a:ext cx="692331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3.</a:t>
            </a:r>
            <a:r>
              <a:rPr lang="en-US" dirty="0"/>
              <a:t> </a:t>
            </a:r>
            <a:r>
              <a:rPr lang="en-US" b="1" dirty="0">
                <a:solidFill>
                  <a:srgbClr val="C00000"/>
                </a:solidFill>
              </a:rPr>
              <a:t>Results &amp; Confusion Matrix Analysis</a:t>
            </a:r>
            <a:br>
              <a:rPr lang="ar-EG" dirty="0"/>
            </a:br>
            <a:br>
              <a:rPr lang="ar-EG" dirty="0"/>
            </a:br>
            <a:r>
              <a:rPr lang="en-US" b="1" dirty="0"/>
              <a:t>Performance</a:t>
            </a:r>
            <a:r>
              <a:rPr lang="en-US" dirty="0"/>
              <a:t>: 99% SSRF Recall Rate | 65.3% Overall Accuracy.</a:t>
            </a:r>
          </a:p>
          <a:p>
            <a:br>
              <a:rPr lang="en-US" dirty="0"/>
            </a:br>
            <a:r>
              <a:rPr lang="en-US" b="1" dirty="0"/>
              <a:t>Architectural Trade-off</a:t>
            </a:r>
            <a:r>
              <a:rPr lang="en-US" dirty="0"/>
              <a:t>: Suspicious traffic (False Positives: 21,237) is safely redirected to the Decoy, NOT blocked.</a:t>
            </a:r>
            <a:br>
              <a:rPr lang="en-US" dirty="0"/>
            </a:br>
            <a:br>
              <a:rPr lang="en-US" dirty="0"/>
            </a:br>
            <a:r>
              <a:rPr lang="en-US" b="1" dirty="0"/>
              <a:t>Threat Mitigation</a:t>
            </a:r>
            <a:r>
              <a:rPr lang="en-US" dirty="0"/>
              <a:t>: Successfully captured 30,807 attacks with minimal False Negatives (379).</a:t>
            </a:r>
            <a:br>
              <a:rPr lang="en-US" dirty="0"/>
            </a:b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FBF515E-4EFB-8171-7A3E-43AB8872D6D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17" t="5707" r="1441" b="4319"/>
          <a:stretch>
            <a:fillRect/>
          </a:stretch>
        </p:blipFill>
        <p:spPr>
          <a:xfrm>
            <a:off x="7443285" y="2062065"/>
            <a:ext cx="4641274" cy="308518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9EBE248-5A21-947D-DA02-0B156C4982DF}"/>
              </a:ext>
            </a:extLst>
          </p:cNvPr>
          <p:cNvSpPr txBox="1"/>
          <p:nvPr/>
        </p:nvSpPr>
        <p:spPr>
          <a:xfrm>
            <a:off x="0" y="-1"/>
            <a:ext cx="9358062" cy="72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kern="100" dirty="0">
                <a:latin typeface="+mj-lt"/>
                <a:ea typeface="Times New Roman" panose="02020603050405020304" pitchFamily="18" charset="0"/>
                <a:cs typeface="Segoe UI Emoji" panose="020B0502040204020203" pitchFamily="34" charset="0"/>
              </a:rPr>
              <a:t>5. </a:t>
            </a:r>
            <a:r>
              <a:rPr lang="en-US" sz="3600" b="1" kern="10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Practical Work and Implementation Cont.</a:t>
            </a:r>
          </a:p>
        </p:txBody>
      </p:sp>
    </p:spTree>
    <p:extLst>
      <p:ext uri="{BB962C8B-B14F-4D97-AF65-F5344CB8AC3E}">
        <p14:creationId xmlns:p14="http://schemas.microsoft.com/office/powerpoint/2010/main" val="186600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472A9-8E2C-FA8B-CF0B-B1E1DDD42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33FB0C-A462-D4FE-A671-03AA9E7E5B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/>
          <a:lstStyle/>
          <a:p>
            <a:fld id="{B5CEABB6-07DC-46E8-9B57-56EC44A396E5}" type="slidenum">
              <a:rPr lang="en-US" sz="1800" smtClean="0"/>
              <a:pPr/>
              <a:t>15</a:t>
            </a:fld>
            <a:endParaRPr lang="en-US" sz="1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634AC90-568A-752C-C70F-003342BAC8D6}"/>
              </a:ext>
            </a:extLst>
          </p:cNvPr>
          <p:cNvSpPr txBox="1"/>
          <p:nvPr/>
        </p:nvSpPr>
        <p:spPr>
          <a:xfrm>
            <a:off x="2144381" y="4126391"/>
            <a:ext cx="730441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5. </a:t>
            </a:r>
            <a:r>
              <a:rPr lang="en-US" b="1" dirty="0">
                <a:solidFill>
                  <a:srgbClr val="C00000"/>
                </a:solidFill>
              </a:rPr>
              <a:t>Receiver Operating Characteristic</a:t>
            </a:r>
            <a:r>
              <a:rPr lang="en-US" b="1" dirty="0"/>
              <a:t> (ROC)</a:t>
            </a:r>
            <a:r>
              <a:rPr lang="en-US" dirty="0"/>
              <a:t>Statistical Capability: The ROC Curve validates the separation capability of the Naive Bayes classifier between benign and malicious flows.</a:t>
            </a:r>
          </a:p>
          <a:p>
            <a:r>
              <a:rPr lang="en-US" dirty="0"/>
              <a:t>Despite the high False Positive rate, the AUC of 65.53% confirms the model retains statistical power. The curve stays clearly above the baseline, indicating successful pattern differentiation.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E0E5C87-1E88-F2B5-3AB1-F665AF4123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4382" y="861122"/>
            <a:ext cx="7304418" cy="31044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E2337F5-4537-45EF-2535-05875A82B876}"/>
              </a:ext>
            </a:extLst>
          </p:cNvPr>
          <p:cNvSpPr txBox="1"/>
          <p:nvPr/>
        </p:nvSpPr>
        <p:spPr>
          <a:xfrm>
            <a:off x="0" y="-1"/>
            <a:ext cx="9358062" cy="72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kern="100" dirty="0">
                <a:latin typeface="+mj-lt"/>
                <a:ea typeface="Times New Roman" panose="02020603050405020304" pitchFamily="18" charset="0"/>
                <a:cs typeface="Segoe UI Emoji" panose="020B0502040204020203" pitchFamily="34" charset="0"/>
              </a:rPr>
              <a:t>5. </a:t>
            </a:r>
            <a:r>
              <a:rPr lang="en-US" sz="3600" b="1" kern="10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Practical Work and Implementation Cont.</a:t>
            </a:r>
          </a:p>
        </p:txBody>
      </p:sp>
    </p:spTree>
    <p:extLst>
      <p:ext uri="{BB962C8B-B14F-4D97-AF65-F5344CB8AC3E}">
        <p14:creationId xmlns:p14="http://schemas.microsoft.com/office/powerpoint/2010/main" val="3710340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994A40-0911-5763-8526-F633B8585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60072DF-9DCE-DC38-4E4C-AC201C628592}"/>
              </a:ext>
            </a:extLst>
          </p:cNvPr>
          <p:cNvSpPr/>
          <p:nvPr/>
        </p:nvSpPr>
        <p:spPr>
          <a:xfrm>
            <a:off x="5811981" y="1062795"/>
            <a:ext cx="4793673" cy="4154984"/>
          </a:xfrm>
          <a:prstGeom prst="roundRect">
            <a:avLst>
              <a:gd name="adj" fmla="val 2996"/>
            </a:avLst>
          </a:prstGeom>
          <a:solidFill>
            <a:schemeClr val="tx1"/>
          </a:solidFill>
          <a:ln w="762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19BAE01-FFA0-C8AE-28A0-9CDCF5EAE0B5}"/>
              </a:ext>
            </a:extLst>
          </p:cNvPr>
          <p:cNvSpPr/>
          <p:nvPr/>
        </p:nvSpPr>
        <p:spPr>
          <a:xfrm>
            <a:off x="641113" y="1062795"/>
            <a:ext cx="4793673" cy="4154984"/>
          </a:xfrm>
          <a:prstGeom prst="roundRect">
            <a:avLst>
              <a:gd name="adj" fmla="val 2996"/>
            </a:avLst>
          </a:prstGeom>
          <a:solidFill>
            <a:schemeClr val="tx1"/>
          </a:solidFill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25A1F6-9D30-FEDE-68C1-D3189B3A3E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/>
          <a:lstStyle/>
          <a:p>
            <a:fld id="{B5CEABB6-07DC-46E8-9B57-56EC44A396E5}" type="slidenum">
              <a:rPr lang="en-US" sz="1800" smtClean="0"/>
              <a:pPr/>
              <a:t>16</a:t>
            </a:fld>
            <a:endParaRPr lang="en-US" sz="1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4CDE8B-8F27-3AA7-3100-D85605359A9A}"/>
              </a:ext>
            </a:extLst>
          </p:cNvPr>
          <p:cNvSpPr txBox="1"/>
          <p:nvPr/>
        </p:nvSpPr>
        <p:spPr>
          <a:xfrm>
            <a:off x="0" y="-7635"/>
            <a:ext cx="9358062" cy="72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kern="100" dirty="0">
                <a:latin typeface="+mj-lt"/>
                <a:ea typeface="Times New Roman" panose="02020603050405020304" pitchFamily="18" charset="0"/>
                <a:cs typeface="Segoe UI Emoji" panose="020B0502040204020203" pitchFamily="34" charset="0"/>
              </a:rPr>
              <a:t>6. </a:t>
            </a:r>
            <a:r>
              <a:rPr lang="en-US" sz="3600" b="1" kern="10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Problems Faced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544379-1819-9450-D7DF-28D3556EE1FF}"/>
              </a:ext>
            </a:extLst>
          </p:cNvPr>
          <p:cNvSpPr txBox="1"/>
          <p:nvPr/>
        </p:nvSpPr>
        <p:spPr>
          <a:xfrm>
            <a:off x="641113" y="1247461"/>
            <a:ext cx="4793673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highlight>
                  <a:srgbClr val="800000"/>
                </a:highlight>
              </a:rPr>
              <a:t>Challenge</a:t>
            </a:r>
            <a:r>
              <a:rPr lang="en-US" sz="2000" dirty="0">
                <a:solidFill>
                  <a:schemeClr val="bg1"/>
                </a:solidFill>
                <a:highlight>
                  <a:srgbClr val="800000"/>
                </a:highlight>
              </a:rPr>
              <a:t> </a:t>
            </a:r>
          </a:p>
          <a:p>
            <a:r>
              <a:rPr lang="en-US" sz="2000" b="1" dirty="0">
                <a:solidFill>
                  <a:srgbClr val="C00000"/>
                </a:solidFill>
              </a:rPr>
              <a:t>Automated Mitigation &amp; RBAC The Problem</a:t>
            </a:r>
            <a:r>
              <a:rPr lang="en-US" sz="2000" dirty="0">
                <a:solidFill>
                  <a:schemeClr val="bg1"/>
                </a:solidFill>
              </a:rPr>
              <a:t>:</a:t>
            </a:r>
          </a:p>
          <a:p>
            <a:r>
              <a:rPr lang="en-US" sz="2000" dirty="0">
                <a:solidFill>
                  <a:schemeClr val="bg1"/>
                </a:solidFill>
              </a:rPr>
              <a:t>Permission Denied (403 Forbidden) Issue: By default, Kubernetes Pods are isolated and cannot modify cluster networking. Obstacle: Our Security Controller was blocked by the Kubernetes API when trying to redirect traffic, as it lacked the authority to "Patch" services.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57F803-5B2D-AF7B-BF54-6CB944105578}"/>
              </a:ext>
            </a:extLst>
          </p:cNvPr>
          <p:cNvSpPr txBox="1"/>
          <p:nvPr/>
        </p:nvSpPr>
        <p:spPr>
          <a:xfrm>
            <a:off x="5811981" y="1247461"/>
            <a:ext cx="479367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highlight>
                  <a:srgbClr val="008000"/>
                </a:highlight>
              </a:rPr>
              <a:t>Solution</a:t>
            </a:r>
            <a:endParaRPr lang="en-US" sz="2000" dirty="0">
              <a:solidFill>
                <a:schemeClr val="bg1"/>
              </a:solidFill>
              <a:highlight>
                <a:srgbClr val="008000"/>
              </a:highlight>
            </a:endParaRPr>
          </a:p>
          <a:p>
            <a:r>
              <a:rPr lang="en-US" sz="2000" b="1" dirty="0">
                <a:solidFill>
                  <a:srgbClr val="00B050"/>
                </a:solidFill>
              </a:rPr>
              <a:t>Implementing RBAC</a:t>
            </a:r>
            <a:r>
              <a:rPr lang="en-US" sz="2000" dirty="0">
                <a:solidFill>
                  <a:srgbClr val="00B050"/>
                </a:solidFill>
              </a:rPr>
              <a:t> </a:t>
            </a:r>
            <a:r>
              <a:rPr lang="en-US" sz="2000" dirty="0">
                <a:solidFill>
                  <a:schemeClr val="bg1"/>
                </a:solidFill>
              </a:rPr>
              <a:t>(Role-Based Access Control) We granted the Controller "Write" access safely using three components:</a:t>
            </a:r>
          </a:p>
          <a:p>
            <a:pPr marL="342900" indent="-342900">
              <a:buAutoNum type="arabicPeriod"/>
            </a:pPr>
            <a:r>
              <a:rPr lang="en-US" sz="2000" b="1" dirty="0">
                <a:solidFill>
                  <a:schemeClr val="bg1"/>
                </a:solidFill>
              </a:rPr>
              <a:t>Service Account</a:t>
            </a:r>
            <a:r>
              <a:rPr lang="en-US" sz="2000" dirty="0">
                <a:solidFill>
                  <a:schemeClr val="bg1"/>
                </a:solidFill>
              </a:rPr>
              <a:t>: Created a unique "Identity" for the Controller.</a:t>
            </a:r>
          </a:p>
          <a:p>
            <a:pPr marL="342900" indent="-342900">
              <a:buAutoNum type="arabicPeriod"/>
            </a:pPr>
            <a:r>
              <a:rPr lang="en-US" sz="2000" b="1" dirty="0">
                <a:solidFill>
                  <a:schemeClr val="bg1"/>
                </a:solidFill>
              </a:rPr>
              <a:t>Role</a:t>
            </a:r>
            <a:r>
              <a:rPr lang="en-US" sz="2000" dirty="0">
                <a:solidFill>
                  <a:schemeClr val="bg1"/>
                </a:solidFill>
              </a:rPr>
              <a:t>: Defined a strict set of permissions (Only patch and update for Services).</a:t>
            </a:r>
          </a:p>
          <a:p>
            <a:pPr marL="342900" indent="-342900">
              <a:buAutoNum type="arabicPeriod"/>
            </a:pPr>
            <a:r>
              <a:rPr lang="en-US" sz="2000" b="1" dirty="0">
                <a:solidFill>
                  <a:schemeClr val="bg1"/>
                </a:solidFill>
              </a:rPr>
              <a:t>Role Binding</a:t>
            </a:r>
            <a:r>
              <a:rPr lang="en-US" sz="2000" dirty="0">
                <a:solidFill>
                  <a:schemeClr val="bg1"/>
                </a:solidFill>
              </a:rPr>
              <a:t>: Linked the Identity to the Permissions.</a:t>
            </a:r>
          </a:p>
        </p:txBody>
      </p:sp>
    </p:spTree>
    <p:extLst>
      <p:ext uri="{BB962C8B-B14F-4D97-AF65-F5344CB8AC3E}">
        <p14:creationId xmlns:p14="http://schemas.microsoft.com/office/powerpoint/2010/main" val="117944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9" grpId="0" animBg="1"/>
      <p:bldP spid="3" grpId="0"/>
      <p:bldP spid="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01675-AEC1-07B1-D70D-D08A86480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9514948-6D9B-1465-7315-F2958D7F4BB1}"/>
              </a:ext>
            </a:extLst>
          </p:cNvPr>
          <p:cNvSpPr/>
          <p:nvPr/>
        </p:nvSpPr>
        <p:spPr>
          <a:xfrm>
            <a:off x="5805054" y="1062795"/>
            <a:ext cx="4793673" cy="4154984"/>
          </a:xfrm>
          <a:prstGeom prst="roundRect">
            <a:avLst>
              <a:gd name="adj" fmla="val 2996"/>
            </a:avLst>
          </a:prstGeom>
          <a:solidFill>
            <a:schemeClr val="tx1"/>
          </a:solidFill>
          <a:ln w="762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DA590DB-0CF7-60D3-94C1-B47C5580B869}"/>
              </a:ext>
            </a:extLst>
          </p:cNvPr>
          <p:cNvSpPr/>
          <p:nvPr/>
        </p:nvSpPr>
        <p:spPr>
          <a:xfrm>
            <a:off x="641115" y="1072645"/>
            <a:ext cx="4793673" cy="4154984"/>
          </a:xfrm>
          <a:prstGeom prst="roundRect">
            <a:avLst>
              <a:gd name="adj" fmla="val 2996"/>
            </a:avLst>
          </a:prstGeom>
          <a:solidFill>
            <a:schemeClr val="tx1"/>
          </a:solidFill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4CE0E6-5830-9BCE-62AB-0A1A792EB3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/>
          <a:lstStyle/>
          <a:p>
            <a:fld id="{B5CEABB6-07DC-46E8-9B57-56EC44A396E5}" type="slidenum">
              <a:rPr lang="en-US" sz="1800" smtClean="0"/>
              <a:pPr/>
              <a:t>17</a:t>
            </a:fld>
            <a:endParaRPr lang="en-US" sz="1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FBE516-0687-7902-42F3-B91CD64C177D}"/>
              </a:ext>
            </a:extLst>
          </p:cNvPr>
          <p:cNvSpPr txBox="1"/>
          <p:nvPr/>
        </p:nvSpPr>
        <p:spPr>
          <a:xfrm>
            <a:off x="0" y="-1"/>
            <a:ext cx="9358062" cy="72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kern="100" dirty="0">
                <a:latin typeface="+mj-lt"/>
                <a:ea typeface="Times New Roman" panose="02020603050405020304" pitchFamily="18" charset="0"/>
                <a:cs typeface="Segoe UI Emoji" panose="020B0502040204020203" pitchFamily="34" charset="0"/>
              </a:rPr>
              <a:t>6. </a:t>
            </a:r>
            <a:r>
              <a:rPr lang="en-US" sz="3600" b="1" kern="10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Problems Faced Cont.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D2B906-2F67-9388-6137-390953A8EF50}"/>
              </a:ext>
            </a:extLst>
          </p:cNvPr>
          <p:cNvSpPr txBox="1"/>
          <p:nvPr/>
        </p:nvSpPr>
        <p:spPr>
          <a:xfrm>
            <a:off x="641114" y="1248013"/>
            <a:ext cx="4793673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highlight>
                  <a:srgbClr val="800000"/>
                </a:highlight>
              </a:rPr>
              <a:t>Challenge </a:t>
            </a:r>
          </a:p>
          <a:p>
            <a:r>
              <a:rPr lang="en-US" sz="2000" b="1" dirty="0">
                <a:solidFill>
                  <a:srgbClr val="C00000"/>
                </a:solidFill>
              </a:rPr>
              <a:t>Real-Time Data Sync &amp; Latency The Problem</a:t>
            </a:r>
            <a:r>
              <a:rPr lang="en-US" sz="2000" b="1" dirty="0">
                <a:solidFill>
                  <a:schemeClr val="bg1"/>
                </a:solidFill>
              </a:rPr>
              <a:t>: </a:t>
            </a:r>
          </a:p>
          <a:p>
            <a:r>
              <a:rPr lang="en-US" sz="2000" dirty="0">
                <a:solidFill>
                  <a:schemeClr val="bg1"/>
                </a:solidFill>
              </a:rPr>
              <a:t>30-Second Sync Gap Isolation: Data generated by the Sniffer is "trapped" inside the Pod's isolated file system. Latency: Standard shared storage (PVC) updates too slowly (10–30 second delay). Critical Risk: In cybersecurity, 30 seconds is an eternity; the attacker could finish their exploit before the AI even sees the data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24085B-575C-242F-4116-2A5C5044D8D2}"/>
              </a:ext>
            </a:extLst>
          </p:cNvPr>
          <p:cNvSpPr txBox="1"/>
          <p:nvPr/>
        </p:nvSpPr>
        <p:spPr>
          <a:xfrm>
            <a:off x="5805054" y="1247461"/>
            <a:ext cx="4793673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highlight>
                  <a:srgbClr val="008000"/>
                </a:highlight>
              </a:rPr>
              <a:t>Solution </a:t>
            </a:r>
          </a:p>
          <a:p>
            <a:r>
              <a:rPr lang="en-US" sz="2000" b="1" dirty="0">
                <a:solidFill>
                  <a:srgbClr val="00B050"/>
                </a:solidFill>
              </a:rPr>
              <a:t>High-Speed Sync</a:t>
            </a:r>
          </a:p>
          <a:p>
            <a:r>
              <a:rPr lang="en-US" sz="2000" dirty="0">
                <a:solidFill>
                  <a:schemeClr val="bg1"/>
                </a:solidFill>
              </a:rPr>
              <a:t>Bypass We bypassed the file-system lag by building a Direct Extraction Layer:</a:t>
            </a:r>
          </a:p>
          <a:p>
            <a:pPr marL="457200" indent="-457200">
              <a:buAutoNum type="arabicPeriod"/>
            </a:pPr>
            <a:r>
              <a:rPr lang="en-US" sz="2000" b="1" dirty="0">
                <a:solidFill>
                  <a:schemeClr val="bg1"/>
                </a:solidFill>
              </a:rPr>
              <a:t>Continuous Loop</a:t>
            </a:r>
            <a:r>
              <a:rPr lang="en-US" sz="2000" dirty="0">
                <a:solidFill>
                  <a:schemeClr val="bg1"/>
                </a:solidFill>
              </a:rPr>
              <a:t>: A PowerShell background script monitoring the cluster 24/7.</a:t>
            </a:r>
          </a:p>
          <a:p>
            <a:pPr marL="457200" indent="-457200">
              <a:buAutoNum type="arabicPeriod"/>
            </a:pPr>
            <a:r>
              <a:rPr lang="en-US" sz="2000" b="1" dirty="0">
                <a:solidFill>
                  <a:schemeClr val="bg1"/>
                </a:solidFill>
              </a:rPr>
              <a:t>Forceful Extraction</a:t>
            </a:r>
            <a:r>
              <a:rPr lang="en-US" sz="2000" dirty="0">
                <a:solidFill>
                  <a:schemeClr val="bg1"/>
                </a:solidFill>
              </a:rPr>
              <a:t>: Using kubectl cp to "grab" fresh CSV data every 2 seconds, ignoring the slow PVC sync.</a:t>
            </a:r>
          </a:p>
          <a:p>
            <a:pPr marL="457200" indent="-457200">
              <a:buAutoNum type="arabicPeriod"/>
            </a:pPr>
            <a:r>
              <a:rPr lang="en-US" sz="2000" b="1" dirty="0">
                <a:solidFill>
                  <a:schemeClr val="bg1"/>
                </a:solidFill>
              </a:rPr>
              <a:t>Instant Injection</a:t>
            </a:r>
            <a:r>
              <a:rPr lang="en-US" sz="2000" dirty="0">
                <a:solidFill>
                  <a:schemeClr val="bg1"/>
                </a:solidFill>
              </a:rPr>
              <a:t>: Direct delivery to the AI Controller and Live Dashboard.</a:t>
            </a:r>
          </a:p>
        </p:txBody>
      </p:sp>
    </p:spTree>
    <p:extLst>
      <p:ext uri="{BB962C8B-B14F-4D97-AF65-F5344CB8AC3E}">
        <p14:creationId xmlns:p14="http://schemas.microsoft.com/office/powerpoint/2010/main" val="2187155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" grpId="0" animBg="1"/>
      <p:bldP spid="3" grpId="0"/>
      <p:bldP spid="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DD911-6C6A-248C-AA61-310E2D480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228EB5-3969-BC6E-2C20-F3A25941EA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/>
          <a:lstStyle/>
          <a:p>
            <a:fld id="{B5CEABB6-07DC-46E8-9B57-56EC44A396E5}" type="slidenum">
              <a:rPr lang="en-US" sz="1800" smtClean="0"/>
              <a:pPr/>
              <a:t>18</a:t>
            </a:fld>
            <a:endParaRPr lang="en-US" sz="1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57EB67-C776-FCAC-E7EA-3700BF066C79}"/>
              </a:ext>
            </a:extLst>
          </p:cNvPr>
          <p:cNvSpPr txBox="1"/>
          <p:nvPr/>
        </p:nvSpPr>
        <p:spPr>
          <a:xfrm>
            <a:off x="0" y="-1"/>
            <a:ext cx="9358062" cy="72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7. Project Roadmap (Stages)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4EB4B8-5EA1-09DA-EAE7-E3FE193EC096}"/>
              </a:ext>
            </a:extLst>
          </p:cNvPr>
          <p:cNvSpPr txBox="1"/>
          <p:nvPr/>
        </p:nvSpPr>
        <p:spPr>
          <a:xfrm>
            <a:off x="498762" y="910395"/>
            <a:ext cx="10515602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Phase 1:</a:t>
            </a:r>
          </a:p>
          <a:p>
            <a:r>
              <a:rPr lang="en-US" sz="2800" dirty="0"/>
              <a:t>Environment &amp; Traffic Pipeline (</a:t>
            </a:r>
            <a:r>
              <a:rPr lang="en-US" sz="2800" dirty="0">
                <a:solidFill>
                  <a:srgbClr val="C00000"/>
                </a:solidFill>
              </a:rPr>
              <a:t>Completed</a:t>
            </a:r>
            <a:r>
              <a:rPr lang="en-US" sz="2800" dirty="0"/>
              <a:t>)</a:t>
            </a:r>
          </a:p>
          <a:p>
            <a:r>
              <a:rPr lang="en-US" sz="2800" dirty="0">
                <a:solidFill>
                  <a:schemeClr val="bg1"/>
                </a:solidFill>
                <a:highlight>
                  <a:srgbClr val="800000"/>
                </a:highlight>
              </a:rPr>
              <a:t>Infrastructure</a:t>
            </a:r>
            <a:r>
              <a:rPr lang="en-US" sz="2800" dirty="0"/>
              <a:t>: Multi-node cluster with Namespaced Isolation and Shared Storage (PVC)  for real-time data exchange.</a:t>
            </a:r>
          </a:p>
          <a:p>
            <a:r>
              <a:rPr lang="en-US" sz="2800" dirty="0"/>
              <a:t>Pipeline: Automated Sniffer Pod and Feature Extractor (CICFlowMeter) that converts raw packets into 80+ security features every 5 seconds.</a:t>
            </a:r>
          </a:p>
        </p:txBody>
      </p:sp>
    </p:spTree>
    <p:extLst>
      <p:ext uri="{BB962C8B-B14F-4D97-AF65-F5344CB8AC3E}">
        <p14:creationId xmlns:p14="http://schemas.microsoft.com/office/powerpoint/2010/main" val="3466509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48CB5-6179-DC81-D795-BF97F1C5B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38CFC9-9B53-C3AE-CAAD-701E58A6BF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/>
          <a:lstStyle/>
          <a:p>
            <a:fld id="{B5CEABB6-07DC-46E8-9B57-56EC44A396E5}" type="slidenum">
              <a:rPr lang="en-US" sz="1800" smtClean="0"/>
              <a:pPr/>
              <a:t>19</a:t>
            </a:fld>
            <a:endParaRPr lang="en-US" sz="1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4194C3-A4DE-6EC4-2EF9-D9431A753C17}"/>
              </a:ext>
            </a:extLst>
          </p:cNvPr>
          <p:cNvSpPr txBox="1"/>
          <p:nvPr/>
        </p:nvSpPr>
        <p:spPr>
          <a:xfrm>
            <a:off x="0" y="-1"/>
            <a:ext cx="9358062" cy="72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7. Project Roadmap (Stages) Cont.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9C7C68-DC6F-3991-9D21-81201BFA74E6}"/>
              </a:ext>
            </a:extLst>
          </p:cNvPr>
          <p:cNvSpPr txBox="1"/>
          <p:nvPr/>
        </p:nvSpPr>
        <p:spPr>
          <a:xfrm>
            <a:off x="498762" y="910395"/>
            <a:ext cx="10515602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Phase 2: </a:t>
            </a:r>
          </a:p>
          <a:p>
            <a:r>
              <a:rPr lang="en-US" sz="2800" dirty="0"/>
              <a:t>AI Intelligence &amp; Automated Defense (</a:t>
            </a:r>
            <a:r>
              <a:rPr lang="en-US" sz="2800" dirty="0">
                <a:solidFill>
                  <a:srgbClr val="C00000"/>
                </a:solidFill>
              </a:rPr>
              <a:t>Completed</a:t>
            </a:r>
            <a:r>
              <a:rPr lang="en-US" sz="2800" dirty="0"/>
              <a:t>)</a:t>
            </a:r>
            <a:endParaRPr lang="en-US" sz="4400" dirty="0"/>
          </a:p>
          <a:p>
            <a:r>
              <a:rPr lang="en-US" sz="2800" dirty="0">
                <a:solidFill>
                  <a:schemeClr val="bg1"/>
                </a:solidFill>
                <a:highlight>
                  <a:srgbClr val="800000"/>
                </a:highlight>
              </a:rPr>
              <a:t>Detection</a:t>
            </a:r>
            <a:r>
              <a:rPr lang="en-US" sz="2800" dirty="0"/>
              <a:t>: Naive Bayes AI Model deployed as a live Kubernetes Service (ai-service) for instant threat classification.</a:t>
            </a:r>
            <a:endParaRPr lang="en-US" sz="4400" dirty="0"/>
          </a:p>
          <a:p>
            <a:r>
              <a:rPr lang="en-US" sz="2800" dirty="0"/>
              <a:t>Mitigation: Developed a Python Security Controller with RBAC permissions to automatically "Patch" services and redirect attackers.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4187671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D913D8-7BB8-3F99-BA4C-32A987AD2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319769-DD6C-A49D-C4B6-149E753A0F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/>
          <a:lstStyle/>
          <a:p>
            <a:fld id="{B5CEABB6-07DC-46E8-9B57-56EC44A396E5}" type="slidenum">
              <a:rPr lang="en-US" sz="1800" smtClean="0"/>
              <a:pPr/>
              <a:t>20</a:t>
            </a:fld>
            <a:endParaRPr lang="en-US" sz="1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9344BE-3FA6-198B-4AE8-27F758052296}"/>
              </a:ext>
            </a:extLst>
          </p:cNvPr>
          <p:cNvSpPr txBox="1"/>
          <p:nvPr/>
        </p:nvSpPr>
        <p:spPr>
          <a:xfrm>
            <a:off x="0" y="-1"/>
            <a:ext cx="9358062" cy="72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7. Project Roadmap (Stages) Cont.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CEA0CC-CDA5-7B82-F6F9-7EEF55BD0EC3}"/>
              </a:ext>
            </a:extLst>
          </p:cNvPr>
          <p:cNvSpPr txBox="1"/>
          <p:nvPr/>
        </p:nvSpPr>
        <p:spPr>
          <a:xfrm>
            <a:off x="498762" y="910395"/>
            <a:ext cx="1051560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Phase 3:</a:t>
            </a:r>
          </a:p>
          <a:p>
            <a:r>
              <a:rPr lang="en-US" sz="2800" dirty="0"/>
              <a:t>Deception &amp; Monitoring (</a:t>
            </a:r>
            <a:r>
              <a:rPr lang="en-US" sz="2800" dirty="0">
                <a:solidFill>
                  <a:srgbClr val="C00000"/>
                </a:solidFill>
              </a:rPr>
              <a:t>Completed</a:t>
            </a:r>
            <a:r>
              <a:rPr lang="en-US" sz="2800" dirty="0"/>
              <a:t>)</a:t>
            </a:r>
            <a:endParaRPr lang="en-US" sz="4400" dirty="0"/>
          </a:p>
          <a:p>
            <a:r>
              <a:rPr lang="en-US" sz="2800" dirty="0">
                <a:solidFill>
                  <a:schemeClr val="bg1"/>
                </a:solidFill>
                <a:highlight>
                  <a:srgbClr val="800000"/>
                </a:highlight>
              </a:rPr>
              <a:t>Honeypot</a:t>
            </a:r>
            <a:r>
              <a:rPr lang="en-US" sz="2800" dirty="0"/>
              <a:t>: Deployed a Decoy environment to isolate and study attackers.</a:t>
            </a:r>
            <a:endParaRPr lang="en-US" sz="4400" dirty="0"/>
          </a:p>
          <a:p>
            <a:r>
              <a:rPr lang="en-US" sz="2800" dirty="0"/>
              <a:t>Dashboard: Real-time Streamlit interface for live threat alerts and system status.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4141364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B308D-D8BA-9F21-8887-6AFA67F39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0AB250-6FB2-28EE-C4B4-9B17D60D77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/>
          <a:lstStyle/>
          <a:p>
            <a:fld id="{B5CEABB6-07DC-46E8-9B57-56EC44A396E5}" type="slidenum">
              <a:rPr lang="en-US" sz="1800" smtClean="0"/>
              <a:pPr/>
              <a:t>21</a:t>
            </a:fld>
            <a:endParaRPr lang="en-US" sz="1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5957F1-EEED-46C3-0238-4DF5FBF1AA57}"/>
              </a:ext>
            </a:extLst>
          </p:cNvPr>
          <p:cNvSpPr txBox="1"/>
          <p:nvPr/>
        </p:nvSpPr>
        <p:spPr>
          <a:xfrm>
            <a:off x="0" y="-1"/>
            <a:ext cx="9358062" cy="72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7. Project Roadmap (Stages) Cont.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E24F01-B816-61C7-A45F-D0F74BF68F84}"/>
              </a:ext>
            </a:extLst>
          </p:cNvPr>
          <p:cNvSpPr txBox="1"/>
          <p:nvPr/>
        </p:nvSpPr>
        <p:spPr>
          <a:xfrm>
            <a:off x="498762" y="910395"/>
            <a:ext cx="10515602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Final Phase:</a:t>
            </a:r>
          </a:p>
          <a:p>
            <a:r>
              <a:rPr lang="en-US" sz="2800" dirty="0"/>
              <a:t>Optimization (</a:t>
            </a:r>
            <a:r>
              <a:rPr lang="en-US" sz="2800" dirty="0">
                <a:solidFill>
                  <a:srgbClr val="C00000"/>
                </a:solidFill>
              </a:rPr>
              <a:t>Ongoing</a:t>
            </a:r>
            <a:r>
              <a:rPr lang="en-US" sz="2800" dirty="0"/>
              <a:t>)</a:t>
            </a:r>
            <a:endParaRPr lang="en-US" sz="4400" dirty="0"/>
          </a:p>
          <a:p>
            <a:r>
              <a:rPr lang="en-US" sz="2800" dirty="0">
                <a:solidFill>
                  <a:schemeClr val="bg1"/>
                </a:solidFill>
                <a:highlight>
                  <a:srgbClr val="800000"/>
                </a:highlight>
              </a:rPr>
              <a:t>Goal</a:t>
            </a:r>
            <a:r>
              <a:rPr lang="en-US" sz="2800" dirty="0"/>
              <a:t>: Stress-testing the system with SSRF and Scanning attacks to maximize detection accuracy and reduce latency to under 1 second.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319785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77B52831-0916-294C-0ACB-9774B9805D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151" r="18577"/>
          <a:stretch/>
        </p:blipFill>
        <p:spPr>
          <a:xfrm flipH="1">
            <a:off x="0" y="0"/>
            <a:ext cx="5181600" cy="685800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E82E216E-9EE0-9D3F-D692-083F575A3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1515" y="374090"/>
            <a:ext cx="5057104" cy="3624984"/>
          </a:xfrm>
        </p:spPr>
        <p:txBody>
          <a:bodyPr/>
          <a:lstStyle/>
          <a:p>
            <a:r>
              <a:rPr lang="en-US" b="1" dirty="0">
                <a:latin typeface="Cascadia Code" panose="020B0609020000020004" pitchFamily="49" charset="0"/>
                <a:cs typeface="Cascadia Code" panose="020B0609020000020004" pitchFamily="49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76993264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22318419_win32_SL_V9" id="{8502042B-488E-4F33-AD20-77B40A1BC1AA}" vid="{A90C26AF-23CA-48C5-BFF9-84DC7B1C917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622457D9-12AC-4794-A05E-F1B90FCD8DA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7B39BD0-040C-43BE-B0E4-512B09E8003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B045227-5724-4DBF-9712-031B1BFB2C3C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Minimalist sales pitch</Template>
  <TotalTime>571</TotalTime>
  <Words>1446</Words>
  <Application>Microsoft Office PowerPoint</Application>
  <PresentationFormat>Widescreen</PresentationFormat>
  <Paragraphs>208</Paragraphs>
  <Slides>22</Slides>
  <Notes>22</Notes>
  <HiddenSlides>1</HiddenSlides>
  <MMClips>0</MMClips>
  <ScaleCrop>false</ScaleCrop>
  <HeadingPairs>
    <vt:vector size="6" baseType="variant">
      <vt:variant>
        <vt:lpstr>Fonts Used</vt:lpstr>
      </vt:variant>
      <vt:variant>
        <vt:i4>16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9" baseType="lpstr">
      <vt:lpstr>Aptos</vt:lpstr>
      <vt:lpstr>Arial</vt:lpstr>
      <vt:lpstr>Baskerville Old Face</vt:lpstr>
      <vt:lpstr>Berlin Sans FB</vt:lpstr>
      <vt:lpstr>Calibri</vt:lpstr>
      <vt:lpstr>Cascadia Code</vt:lpstr>
      <vt:lpstr>Cascadia Code SemiBold</vt:lpstr>
      <vt:lpstr>Courier New</vt:lpstr>
      <vt:lpstr>Dela Gothic One</vt:lpstr>
      <vt:lpstr>DM Sans</vt:lpstr>
      <vt:lpstr>JetBrains Mono</vt:lpstr>
      <vt:lpstr>Poppins</vt:lpstr>
      <vt:lpstr>Raavi</vt:lpstr>
      <vt:lpstr>Symbol</vt:lpstr>
      <vt:lpstr>Tenorite</vt:lpstr>
      <vt:lpstr>Times New Roman</vt:lpstr>
      <vt:lpstr>Custom</vt:lpstr>
      <vt:lpstr>kubernetes cybersecurity defense system</vt:lpstr>
      <vt:lpstr>About us</vt:lpstr>
      <vt:lpstr>PowerPoint Presentation</vt:lpstr>
      <vt:lpstr>PowerPoint Presentation</vt:lpstr>
      <vt:lpstr>1. Problem definition</vt:lpstr>
      <vt:lpstr>1. Problem definition cont.</vt:lpstr>
      <vt:lpstr>2. System Analysis &amp; Design</vt:lpstr>
      <vt:lpstr>2. System Analysis &amp; Design cont.</vt:lpstr>
      <vt:lpstr>2. System Analysis &amp; Design cont.</vt:lpstr>
      <vt:lpstr>3. Techniques &amp; Algorithms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loai ahmed</dc:creator>
  <cp:lastModifiedBy>loai ahmed</cp:lastModifiedBy>
  <cp:revision>31</cp:revision>
  <dcterms:created xsi:type="dcterms:W3CDTF">2026-04-06T19:45:38Z</dcterms:created>
  <dcterms:modified xsi:type="dcterms:W3CDTF">2026-04-08T12:11:19Z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