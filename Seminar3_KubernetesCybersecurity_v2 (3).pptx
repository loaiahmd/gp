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92E126-5F1E-486A-A37A-253A560D8639}">
  <a:tblStyle styleId="{6F92E126-5F1E-486A-A37A-253A560D8639}" styleName="Table_0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1163848144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182511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69635402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44003048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7840453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30706087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5817467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007629" name="Google Shape;12;p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3261149" name="Google Shape;13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Welcome to our third and final seminar.</a:t>
            </a:r>
            <a:endParaRPr/>
          </a:p>
        </p:txBody>
      </p:sp>
      <p:sp>
        <p:nvSpPr>
          <p:cNvPr id="1384914443" name="Google Shape;14;p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511772" name="Google Shape;23;g3efd7346511_0_375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682034" name="Google Shape;24;g3efd7346511_0_375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91122815" name="Google Shape;25;g3efd7346511_0_375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12818" name="Google Shape;44;g3efd7346511_0_379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1664" name="Google Shape;45;g3efd7346511_0_379:notes"/>
          <p:cNvSpPr txBox="1"/>
          <p:nvPr>
            <p:ph type="body" idx="1"/>
          </p:nvPr>
        </p:nvSpPr>
        <p:spPr bwMode="auto"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5041600" name="Google Shape;46;g3efd7346511_0_37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570537" name="Google Shape;59;p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462029" name="Google Shape;60;p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Walk through the 7 sections.</a:t>
            </a:r>
            <a:endParaRPr/>
          </a:p>
        </p:txBody>
      </p:sp>
      <p:sp>
        <p:nvSpPr>
          <p:cNvPr id="1054760048" name="Google Shape;61;p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0133" name="Google Shape;95;p3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5695383" name="Google Shape;96;p3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Key upgrade from Seminar 2: our model now detects 2 attack types (SSRF + Reconnaissance), and we replaced the Python controller with a Mutation Webhook.</a:t>
            </a:r>
            <a:endParaRPr/>
          </a:p>
        </p:txBody>
      </p:sp>
      <p:sp>
        <p:nvSpPr>
          <p:cNvPr id="428370823" name="Google Shape;97;p3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714206" name="Google Shape;109;p4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6995899" name="Google Shape;110;p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Key architecture change: the Python Security Controller is replaced by a Kubernetes Mutation Webhook (KubeDeceive). Also, AI now classifies 3 classes: Benign, SSRF, Reconnaissance.</a:t>
            </a:r>
            <a:endParaRPr/>
          </a:p>
        </p:txBody>
      </p:sp>
      <p:sp>
        <p:nvSpPr>
          <p:cNvPr id="80896887" name="Google Shape;111;p4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563884" name="Google Shape;151;p5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4058016" name="Google Shape;152;p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Two key technical upgrades: (1) model is now multi-class — detects both SSRF and Reconnaissance. (2) Mutation Webhook replaces the Python controller — it's event-driven, Go-based, and intercepts API requests in real time.</a:t>
            </a:r>
            <a:endParaRPr/>
          </a:p>
        </p:txBody>
      </p:sp>
      <p:sp>
        <p:nvSpPr>
          <p:cNvPr id="2127413254" name="Google Shape;153;p5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421025" name="Google Shape;174;p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3015681" name="Google Shape;175;p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The model now handles 2 attack types. SSRF recall is 99%, Reconnaissance accuracy is 91%. Decoy success: 76% for SSRF, 80% for Recon.</a:t>
            </a:r>
            <a:endParaRPr/>
          </a:p>
        </p:txBody>
      </p:sp>
      <p:sp>
        <p:nvSpPr>
          <p:cNvPr id="1704889840" name="Google Shape;176;p6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95312" name="Google Shape;196;p7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4341606" name="Google Shape;197;p7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Phases 2 and 3 were upgraded. Phase 2: model now detects 2 attacks. Phase 3: Python controller replaced by Mutation Webhook.</a:t>
            </a:r>
            <a:endParaRPr/>
          </a:p>
        </p:txBody>
      </p:sp>
      <p:sp>
        <p:nvSpPr>
          <p:cNvPr id="153755799" name="Google Shape;198;p7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274250" name="Google Shape;216;p8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630066" name="Google Shape;217;p8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Fourth problem is now specific to Reconnaissance detection — it overlaps with normal scanning, which is harder to distinguish.</a:t>
            </a:r>
            <a:endParaRPr/>
          </a:p>
        </p:txBody>
      </p:sp>
      <p:sp>
        <p:nvSpPr>
          <p:cNvPr id="859659509" name="Google Shape;218;p8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412956" name="Google Shape;240;p9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6757478" name="Google Shape;241;p9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Demo: fire an SSRF then a Reconnaissance attack. The webhook intercepts and redirects both to the honeypot within 2 seconds.</a:t>
            </a:r>
            <a:endParaRPr/>
          </a:p>
        </p:txBody>
      </p:sp>
      <p:sp>
        <p:nvSpPr>
          <p:cNvPr id="1286932674" name="Google Shape;242;p9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252806" name="Google Shape;280;p10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981659" name="Google Shape;281;p10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The two upgrades — Webhook and 2-attack model — are the headline achievements of this final seminar.</a:t>
            </a:r>
            <a:endParaRPr/>
          </a:p>
        </p:txBody>
      </p:sp>
      <p:sp>
        <p:nvSpPr>
          <p:cNvPr id="1191335529" name="Google Shape;282;p10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554241" name="Google Shape;309;p1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8314678" name="Google Shape;310;p1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Open for questions and live demo.</a:t>
            </a:r>
            <a:endParaRPr/>
          </a:p>
        </p:txBody>
      </p:sp>
      <p:sp>
        <p:nvSpPr>
          <p:cNvPr id="65572144" name="Google Shape;311;p1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213134" name="Google Shape;16;p3"/>
          <p:cNvSpPr/>
          <p:nvPr/>
        </p:nvSpPr>
        <p:spPr bwMode="auto">
          <a:xfrm>
            <a:off x="0" y="0"/>
            <a:ext cx="9144000" cy="732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92876843" name="Google Shape;17;p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3723138" y="482988"/>
            <a:ext cx="1801125" cy="180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799132" name="Google Shape;18;p3"/>
          <p:cNvSpPr/>
          <p:nvPr/>
        </p:nvSpPr>
        <p:spPr bwMode="auto"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600"/>
              <a:buFont typeface="Calibri"/>
              <a:buNone/>
              <a:defRPr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1033220" name="Google Shape;19;p3"/>
          <p:cNvSpPr/>
          <p:nvPr/>
        </p:nvSpPr>
        <p:spPr bwMode="auto">
          <a:xfrm>
            <a:off x="1423288" y="2498429"/>
            <a:ext cx="6400800" cy="1998300"/>
          </a:xfrm>
          <a:prstGeom prst="rect">
            <a:avLst/>
          </a:prstGeom>
          <a:solidFill>
            <a:srgbClr val="0D3B6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40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Kubernetes Cybersecurity</a:t>
            </a:r>
            <a:endParaRPr sz="3400" b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  <a:defRPr/>
            </a:pPr>
            <a:r>
              <a:rPr lang="en-US" sz="3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Defense System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3400" b="1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965730" name="Google Shape;20;p3"/>
          <p:cNvSpPr/>
          <p:nvPr/>
        </p:nvSpPr>
        <p:spPr bwMode="auto">
          <a:xfrm>
            <a:off x="-2560325" y="846858"/>
            <a:ext cx="64008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0"/>
              <a:buFont typeface="Calibri"/>
              <a:buNone/>
              <a:defRPr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7995397" name="Google Shape;21;p3"/>
          <p:cNvSpPr/>
          <p:nvPr/>
        </p:nvSpPr>
        <p:spPr bwMode="auto">
          <a:xfrm>
            <a:off x="0" y="5074920"/>
            <a:ext cx="9144000" cy="68580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9125903" name="Google Shape;27;p4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355872" y="103500"/>
            <a:ext cx="692677" cy="692677"/>
          </a:xfrm>
          <a:prstGeom prst="rect">
            <a:avLst/>
          </a:prstGeom>
          <a:noFill/>
          <a:ln>
            <a:noFill/>
          </a:ln>
        </p:spPr>
      </p:pic>
      <p:sp>
        <p:nvSpPr>
          <p:cNvPr id="1330282029" name="Google Shape;28;p4"/>
          <p:cNvSpPr/>
          <p:nvPr/>
        </p:nvSpPr>
        <p:spPr bwMode="auto">
          <a:xfrm>
            <a:off x="3200528" y="551575"/>
            <a:ext cx="2658900" cy="507300"/>
          </a:xfrm>
          <a:prstGeom prst="rect">
            <a:avLst/>
          </a:prstGeom>
          <a:solidFill>
            <a:srgbClr val="0D3B66"/>
          </a:solidFill>
          <a:ln w="1107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88699" dist="33262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79824" tIns="79824" rIns="79824" bIns="79824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Our Team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sz="950">
              <a:solidFill>
                <a:schemeClr val="dk1"/>
              </a:solidFill>
            </a:endParaRPr>
          </a:p>
        </p:txBody>
      </p:sp>
      <p:sp>
        <p:nvSpPr>
          <p:cNvPr id="766414147" name="Google Shape;29;p4"/>
          <p:cNvSpPr/>
          <p:nvPr/>
        </p:nvSpPr>
        <p:spPr bwMode="auto">
          <a:xfrm>
            <a:off x="613675" y="1618217"/>
            <a:ext cx="2848500" cy="4617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/>
              <a:t>	</a:t>
            </a:r>
            <a:r>
              <a:rPr lang="en-US" sz="1350" b="1">
                <a:solidFill>
                  <a:schemeClr val="lt1"/>
                </a:solidFill>
              </a:rPr>
              <a:t>Mohamed Hassan</a:t>
            </a:r>
            <a:r>
              <a:rPr lang="en-US" sz="1350"/>
              <a:t> </a:t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7615481" name="Google Shape;30;p4"/>
          <p:cNvSpPr/>
          <p:nvPr/>
        </p:nvSpPr>
        <p:spPr bwMode="auto">
          <a:xfrm>
            <a:off x="613675" y="1618217"/>
            <a:ext cx="621600" cy="4617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>
                <a:solidFill>
                  <a:schemeClr val="lt1"/>
                </a:solidFill>
              </a:rPr>
              <a:t> </a:t>
            </a:r>
            <a:r>
              <a:rPr lang="en-US" sz="125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01</a:t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1261473973" name="Google Shape;31;p4"/>
          <p:cNvSpPr/>
          <p:nvPr/>
        </p:nvSpPr>
        <p:spPr bwMode="auto">
          <a:xfrm>
            <a:off x="2834077" y="551575"/>
            <a:ext cx="662700" cy="5073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107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824" tIns="79824" rIns="79824" bIns="798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/>
          </a:p>
        </p:txBody>
      </p:sp>
      <p:sp>
        <p:nvSpPr>
          <p:cNvPr id="725870192" name="Google Shape;32;p4"/>
          <p:cNvSpPr/>
          <p:nvPr/>
        </p:nvSpPr>
        <p:spPr bwMode="auto">
          <a:xfrm>
            <a:off x="5553585" y="551575"/>
            <a:ext cx="662700" cy="5073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107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824" tIns="79824" rIns="79824" bIns="798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/>
          </a:p>
        </p:txBody>
      </p:sp>
      <p:sp>
        <p:nvSpPr>
          <p:cNvPr id="1833881601" name="Google Shape;33;p4"/>
          <p:cNvSpPr/>
          <p:nvPr/>
        </p:nvSpPr>
        <p:spPr bwMode="auto">
          <a:xfrm>
            <a:off x="5594452" y="1651688"/>
            <a:ext cx="2848500" cy="4617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443842" lvl="0" indent="443842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>
                <a:solidFill>
                  <a:schemeClr val="lt1"/>
                </a:solidFill>
              </a:rPr>
              <a:t>Mohannad Sabry</a:t>
            </a:r>
            <a:r>
              <a:rPr lang="en-US" sz="1350"/>
              <a:t> </a:t>
            </a:r>
            <a:r>
              <a:rPr lang="en-US" sz="1350" b="1">
                <a:solidFill>
                  <a:schemeClr val="lt1"/>
                </a:solidFill>
              </a:rPr>
              <a:t> </a:t>
            </a:r>
            <a:endParaRPr sz="1350" b="1">
              <a:solidFill>
                <a:schemeClr val="lt1"/>
              </a:solidFill>
            </a:endParaRPr>
          </a:p>
        </p:txBody>
      </p:sp>
      <p:sp>
        <p:nvSpPr>
          <p:cNvPr id="736629221" name="Google Shape;34;p4"/>
          <p:cNvSpPr/>
          <p:nvPr/>
        </p:nvSpPr>
        <p:spPr bwMode="auto">
          <a:xfrm>
            <a:off x="5594452" y="1651688"/>
            <a:ext cx="621600" cy="4617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25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02</a:t>
            </a:r>
            <a:r>
              <a:rPr lang="en-US" sz="125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 </a:t>
            </a:r>
            <a:endParaRPr sz="1350"/>
          </a:p>
        </p:txBody>
      </p:sp>
      <p:sp>
        <p:nvSpPr>
          <p:cNvPr id="699744851" name="Google Shape;35;p4"/>
          <p:cNvSpPr/>
          <p:nvPr/>
        </p:nvSpPr>
        <p:spPr bwMode="auto">
          <a:xfrm>
            <a:off x="3105726" y="2574516"/>
            <a:ext cx="2848500" cy="4617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443842" lvl="0" indent="443842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>
                <a:solidFill>
                  <a:schemeClr val="lt1"/>
                </a:solidFill>
              </a:rPr>
              <a:t>Seif Yasser </a:t>
            </a:r>
            <a:r>
              <a:rPr lang="en-US" sz="1350" b="1">
                <a:solidFill>
                  <a:schemeClr val="lt1"/>
                </a:solidFill>
              </a:rPr>
              <a:t> </a:t>
            </a:r>
            <a:endParaRPr sz="1350" b="1">
              <a:solidFill>
                <a:schemeClr val="lt1"/>
              </a:solidFill>
            </a:endParaRPr>
          </a:p>
        </p:txBody>
      </p:sp>
      <p:sp>
        <p:nvSpPr>
          <p:cNvPr id="2022526088" name="Google Shape;36;p4"/>
          <p:cNvSpPr/>
          <p:nvPr/>
        </p:nvSpPr>
        <p:spPr bwMode="auto">
          <a:xfrm>
            <a:off x="3086237" y="2574516"/>
            <a:ext cx="621600" cy="4617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5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03</a:t>
            </a:r>
            <a:r>
              <a:rPr lang="en-US" sz="125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 </a:t>
            </a:r>
            <a:endParaRPr sz="1350"/>
          </a:p>
        </p:txBody>
      </p:sp>
      <p:sp>
        <p:nvSpPr>
          <p:cNvPr id="896428463" name="Google Shape;37;p4"/>
          <p:cNvSpPr/>
          <p:nvPr/>
        </p:nvSpPr>
        <p:spPr bwMode="auto">
          <a:xfrm>
            <a:off x="613675" y="3365096"/>
            <a:ext cx="2848500" cy="4617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443842" lvl="0" indent="443842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>
                <a:solidFill>
                  <a:schemeClr val="lt1"/>
                </a:solidFill>
              </a:rPr>
              <a:t>Loai Ahmed</a:t>
            </a:r>
            <a:r>
              <a:rPr lang="en-US" sz="1350"/>
              <a:t> </a:t>
            </a:r>
            <a:r>
              <a:rPr lang="en-US" sz="1350" b="1">
                <a:solidFill>
                  <a:schemeClr val="lt1"/>
                </a:solidFill>
              </a:rPr>
              <a:t> </a:t>
            </a:r>
            <a:endParaRPr sz="1350" b="1">
              <a:solidFill>
                <a:schemeClr val="lt1"/>
              </a:solidFill>
            </a:endParaRPr>
          </a:p>
        </p:txBody>
      </p:sp>
      <p:sp>
        <p:nvSpPr>
          <p:cNvPr id="193032388" name="Google Shape;38;p4"/>
          <p:cNvSpPr/>
          <p:nvPr/>
        </p:nvSpPr>
        <p:spPr bwMode="auto">
          <a:xfrm>
            <a:off x="613675" y="3365096"/>
            <a:ext cx="621600" cy="4617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25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04</a:t>
            </a:r>
            <a:r>
              <a:rPr lang="en-US" sz="125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 </a:t>
            </a:r>
            <a:endParaRPr sz="1350"/>
          </a:p>
        </p:txBody>
      </p:sp>
      <p:sp>
        <p:nvSpPr>
          <p:cNvPr id="817372647" name="Google Shape;39;p4"/>
          <p:cNvSpPr/>
          <p:nvPr/>
        </p:nvSpPr>
        <p:spPr bwMode="auto">
          <a:xfrm>
            <a:off x="5594452" y="3419242"/>
            <a:ext cx="2848500" cy="4617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443842" lvl="0" indent="443842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>
                <a:solidFill>
                  <a:schemeClr val="lt1"/>
                </a:solidFill>
              </a:rPr>
              <a:t>Ziad Hafez </a:t>
            </a:r>
            <a:r>
              <a:rPr lang="en-US" sz="1350"/>
              <a:t> </a:t>
            </a:r>
            <a:endParaRPr sz="1350"/>
          </a:p>
        </p:txBody>
      </p:sp>
      <p:sp>
        <p:nvSpPr>
          <p:cNvPr id="67114413" name="Google Shape;40;p4"/>
          <p:cNvSpPr/>
          <p:nvPr/>
        </p:nvSpPr>
        <p:spPr bwMode="auto">
          <a:xfrm>
            <a:off x="5594452" y="3419242"/>
            <a:ext cx="621600" cy="4617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25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05 </a:t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574407784" name="Google Shape;41;p4"/>
          <p:cNvSpPr/>
          <p:nvPr/>
        </p:nvSpPr>
        <p:spPr bwMode="auto">
          <a:xfrm>
            <a:off x="3086237" y="4342069"/>
            <a:ext cx="2848500" cy="4617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443842" lvl="0" indent="443842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>
                <a:solidFill>
                  <a:schemeClr val="lt1"/>
                </a:solidFill>
              </a:rPr>
              <a:t>Shimaa Rabia</a:t>
            </a:r>
            <a:r>
              <a:rPr lang="en-US" sz="1350"/>
              <a:t>  </a:t>
            </a:r>
            <a:endParaRPr sz="1350"/>
          </a:p>
        </p:txBody>
      </p:sp>
      <p:sp>
        <p:nvSpPr>
          <p:cNvPr id="79237508" name="Google Shape;42;p4"/>
          <p:cNvSpPr/>
          <p:nvPr/>
        </p:nvSpPr>
        <p:spPr bwMode="auto">
          <a:xfrm>
            <a:off x="3086237" y="4342072"/>
            <a:ext cx="621600" cy="4617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750" tIns="88750" rIns="88750" bIns="88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25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06</a:t>
            </a:r>
            <a:r>
              <a:rPr lang="en-US" sz="125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 </a:t>
            </a:r>
            <a:endParaRPr sz="13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7341278" name="Google Shape;48;p5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7943975" y="82450"/>
            <a:ext cx="1154350" cy="11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647435" name="Google Shape;49;p5"/>
          <p:cNvSpPr/>
          <p:nvPr/>
        </p:nvSpPr>
        <p:spPr bwMode="auto">
          <a:xfrm>
            <a:off x="884544" y="849313"/>
            <a:ext cx="3045900" cy="581100"/>
          </a:xfrm>
          <a:prstGeom prst="rect">
            <a:avLst/>
          </a:prstGeom>
          <a:solidFill>
            <a:srgbClr val="0D3B6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Supervisors 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1887623640" name="Google Shape;50;p5"/>
          <p:cNvSpPr/>
          <p:nvPr/>
        </p:nvSpPr>
        <p:spPr bwMode="auto">
          <a:xfrm>
            <a:off x="518969" y="849313"/>
            <a:ext cx="640200" cy="5811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23718320" name="Google Shape;51;p5"/>
          <p:cNvSpPr/>
          <p:nvPr/>
        </p:nvSpPr>
        <p:spPr bwMode="auto">
          <a:xfrm>
            <a:off x="3527619" y="849313"/>
            <a:ext cx="640200" cy="5811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07730710" name="Google Shape;49;p5"/>
          <p:cNvSpPr/>
          <p:nvPr/>
        </p:nvSpPr>
        <p:spPr bwMode="auto">
          <a:xfrm>
            <a:off x="3085293" y="2281199"/>
            <a:ext cx="3045899" cy="581099"/>
          </a:xfrm>
          <a:prstGeom prst="rect">
            <a:avLst/>
          </a:prstGeom>
          <a:solidFill>
            <a:srgbClr val="0D3B6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Mervat El-Qutt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659766481" name="Google Shape;50;p5"/>
          <p:cNvSpPr/>
          <p:nvPr/>
        </p:nvSpPr>
        <p:spPr bwMode="auto">
          <a:xfrm>
            <a:off x="2719718" y="2281199"/>
            <a:ext cx="640199" cy="581099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61597627" name="Google Shape;51;p5"/>
          <p:cNvSpPr/>
          <p:nvPr/>
        </p:nvSpPr>
        <p:spPr bwMode="auto">
          <a:xfrm>
            <a:off x="5728368" y="2281199"/>
            <a:ext cx="640199" cy="581099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61392744" name="Google Shape;49;p5"/>
          <p:cNvSpPr/>
          <p:nvPr/>
        </p:nvSpPr>
        <p:spPr bwMode="auto">
          <a:xfrm>
            <a:off x="5300899" y="3624027"/>
            <a:ext cx="3045899" cy="581099"/>
          </a:xfrm>
          <a:prstGeom prst="rect">
            <a:avLst/>
          </a:prstGeom>
          <a:solidFill>
            <a:srgbClr val="0D3B6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T.A Abdulrahman Ali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234264152" name="Google Shape;50;p5"/>
          <p:cNvSpPr/>
          <p:nvPr/>
        </p:nvSpPr>
        <p:spPr bwMode="auto">
          <a:xfrm>
            <a:off x="4935324" y="3624027"/>
            <a:ext cx="640199" cy="581099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19637671" name="Google Shape;51;p5"/>
          <p:cNvSpPr/>
          <p:nvPr/>
        </p:nvSpPr>
        <p:spPr bwMode="auto">
          <a:xfrm>
            <a:off x="7943974" y="3624027"/>
            <a:ext cx="640199" cy="581099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072491" name="Google Shape;63;p6"/>
          <p:cNvSpPr/>
          <p:nvPr/>
        </p:nvSpPr>
        <p:spPr bwMode="auto">
          <a:xfrm>
            <a:off x="420700" y="9363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000"/>
              <a:buFont typeface="Calibri"/>
              <a:buNone/>
              <a:defRPr/>
            </a:pPr>
            <a:r>
              <a:rPr lang="en-US" sz="29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Agenda</a:t>
            </a:r>
            <a:endParaRPr sz="2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3482786" name="Google Shape;64;p6"/>
          <p:cNvSpPr/>
          <p:nvPr/>
        </p:nvSpPr>
        <p:spPr bwMode="auto">
          <a:xfrm rot="10800000" flipH="1">
            <a:off x="401650" y="758800"/>
            <a:ext cx="8267700" cy="22200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7924630" name="Google Shape;65;p6"/>
          <p:cNvSpPr/>
          <p:nvPr/>
        </p:nvSpPr>
        <p:spPr bwMode="auto">
          <a:xfrm>
            <a:off x="814950" y="981350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53541899" name="Google Shape;66;p6"/>
          <p:cNvSpPr/>
          <p:nvPr/>
        </p:nvSpPr>
        <p:spPr bwMode="auto">
          <a:xfrm>
            <a:off x="814950" y="981350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13269435" name="Google Shape;67;p6"/>
          <p:cNvSpPr/>
          <p:nvPr/>
        </p:nvSpPr>
        <p:spPr bwMode="auto">
          <a:xfrm>
            <a:off x="814950" y="1054502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7931568" name="Google Shape;68;p6"/>
          <p:cNvSpPr/>
          <p:nvPr/>
        </p:nvSpPr>
        <p:spPr bwMode="auto">
          <a:xfrm>
            <a:off x="1546474" y="1072800"/>
            <a:ext cx="6502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Definition &amp; Proposed Solution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9373245" name="Google Shape;69;p6"/>
          <p:cNvSpPr/>
          <p:nvPr/>
        </p:nvSpPr>
        <p:spPr bwMode="auto">
          <a:xfrm>
            <a:off x="814950" y="1548275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/>
          </a:p>
        </p:txBody>
      </p:sp>
      <p:sp>
        <p:nvSpPr>
          <p:cNvPr id="371049457" name="Google Shape;70;p6"/>
          <p:cNvSpPr/>
          <p:nvPr/>
        </p:nvSpPr>
        <p:spPr bwMode="auto">
          <a:xfrm>
            <a:off x="814950" y="1548278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3986037" name="Google Shape;71;p6"/>
          <p:cNvSpPr/>
          <p:nvPr/>
        </p:nvSpPr>
        <p:spPr bwMode="auto">
          <a:xfrm>
            <a:off x="814950" y="1621430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072057" name="Google Shape;72;p6"/>
          <p:cNvSpPr/>
          <p:nvPr/>
        </p:nvSpPr>
        <p:spPr bwMode="auto">
          <a:xfrm>
            <a:off x="1546474" y="1639725"/>
            <a:ext cx="6307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Analysis &amp; 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3305812" name="Google Shape;73;p6"/>
          <p:cNvSpPr/>
          <p:nvPr/>
        </p:nvSpPr>
        <p:spPr bwMode="auto">
          <a:xfrm>
            <a:off x="814950" y="2115200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44504013" name="Google Shape;74;p6"/>
          <p:cNvSpPr/>
          <p:nvPr/>
        </p:nvSpPr>
        <p:spPr bwMode="auto">
          <a:xfrm>
            <a:off x="814950" y="2115206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01935389" name="Google Shape;75;p6"/>
          <p:cNvSpPr/>
          <p:nvPr/>
        </p:nvSpPr>
        <p:spPr bwMode="auto">
          <a:xfrm>
            <a:off x="814950" y="2188358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6705564" name="Google Shape;76;p6"/>
          <p:cNvSpPr/>
          <p:nvPr/>
        </p:nvSpPr>
        <p:spPr bwMode="auto">
          <a:xfrm>
            <a:off x="1546474" y="2206650"/>
            <a:ext cx="6392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Techniques &amp; Algorithms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5529886" name="Google Shape;77;p6"/>
          <p:cNvSpPr/>
          <p:nvPr/>
        </p:nvSpPr>
        <p:spPr bwMode="auto">
          <a:xfrm>
            <a:off x="814950" y="2682125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2141887" name="Google Shape;78;p6"/>
          <p:cNvSpPr/>
          <p:nvPr/>
        </p:nvSpPr>
        <p:spPr bwMode="auto">
          <a:xfrm>
            <a:off x="814950" y="2682134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6296995" name="Google Shape;79;p6"/>
          <p:cNvSpPr/>
          <p:nvPr/>
        </p:nvSpPr>
        <p:spPr bwMode="auto">
          <a:xfrm>
            <a:off x="814950" y="2755286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4715758" name="Google Shape;80;p6"/>
          <p:cNvSpPr/>
          <p:nvPr/>
        </p:nvSpPr>
        <p:spPr bwMode="auto">
          <a:xfrm>
            <a:off x="1546474" y="2773575"/>
            <a:ext cx="65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Experiments, Practical Work &amp; Implementation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5057871" name="Google Shape;81;p6"/>
          <p:cNvSpPr/>
          <p:nvPr/>
        </p:nvSpPr>
        <p:spPr bwMode="auto">
          <a:xfrm>
            <a:off x="814950" y="3249050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06183043" name="Google Shape;82;p6"/>
          <p:cNvSpPr/>
          <p:nvPr/>
        </p:nvSpPr>
        <p:spPr bwMode="auto">
          <a:xfrm>
            <a:off x="814950" y="3249062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8022722" name="Google Shape;83;p6"/>
          <p:cNvSpPr/>
          <p:nvPr/>
        </p:nvSpPr>
        <p:spPr bwMode="auto">
          <a:xfrm>
            <a:off x="814950" y="3322214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6820908" name="Google Shape;84;p6"/>
          <p:cNvSpPr/>
          <p:nvPr/>
        </p:nvSpPr>
        <p:spPr bwMode="auto">
          <a:xfrm>
            <a:off x="1546474" y="3340500"/>
            <a:ext cx="65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Problems Faced &amp; Limitations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8096776" name="Google Shape;85;p6"/>
          <p:cNvSpPr/>
          <p:nvPr/>
        </p:nvSpPr>
        <p:spPr bwMode="auto">
          <a:xfrm>
            <a:off x="814950" y="3816000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29495298" name="Google Shape;86;p6"/>
          <p:cNvSpPr/>
          <p:nvPr/>
        </p:nvSpPr>
        <p:spPr bwMode="auto">
          <a:xfrm>
            <a:off x="814950" y="3815990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52629887" name="Google Shape;87;p6"/>
          <p:cNvSpPr/>
          <p:nvPr/>
        </p:nvSpPr>
        <p:spPr bwMode="auto">
          <a:xfrm>
            <a:off x="814950" y="3889142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5551121" name="Google Shape;88;p6"/>
          <p:cNvSpPr/>
          <p:nvPr/>
        </p:nvSpPr>
        <p:spPr bwMode="auto">
          <a:xfrm>
            <a:off x="1546474" y="3907425"/>
            <a:ext cx="6502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/ System Evaluation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85181550" name="Google Shape;89;p6"/>
          <p:cNvSpPr/>
          <p:nvPr/>
        </p:nvSpPr>
        <p:spPr bwMode="auto">
          <a:xfrm>
            <a:off x="814950" y="4382950"/>
            <a:ext cx="7514100" cy="475500"/>
          </a:xfrm>
          <a:prstGeom prst="roundRect">
            <a:avLst>
              <a:gd name="adj" fmla="val 11538"/>
            </a:avLst>
          </a:prstGeom>
          <a:solidFill>
            <a:srgbClr val="0D3B66"/>
          </a:solidFill>
          <a:ln w="95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6709835" name="Google Shape;90;p6"/>
          <p:cNvSpPr/>
          <p:nvPr/>
        </p:nvSpPr>
        <p:spPr bwMode="auto">
          <a:xfrm>
            <a:off x="814950" y="4382918"/>
            <a:ext cx="640200" cy="475500"/>
          </a:xfrm>
          <a:prstGeom prst="roundRect">
            <a:avLst>
              <a:gd name="adj" fmla="val 11538"/>
            </a:avLst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40683035" name="Google Shape;91;p6"/>
          <p:cNvSpPr/>
          <p:nvPr/>
        </p:nvSpPr>
        <p:spPr bwMode="auto">
          <a:xfrm>
            <a:off x="814950" y="4456070"/>
            <a:ext cx="640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Calibri"/>
              <a:buNone/>
              <a:defRPr/>
            </a:pPr>
            <a:r>
              <a:rPr lang="en-US" sz="130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07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1839313" name="Google Shape;92;p6"/>
          <p:cNvSpPr/>
          <p:nvPr/>
        </p:nvSpPr>
        <p:spPr bwMode="auto">
          <a:xfrm>
            <a:off x="1546474" y="4474350"/>
            <a:ext cx="657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  <a:defRPr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Lessons Learned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88789661" name="Google Shape;93;p6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03452" name="Google Shape;99;p7"/>
          <p:cNvSpPr/>
          <p:nvPr/>
        </p:nvSpPr>
        <p:spPr bwMode="auto">
          <a:xfrm>
            <a:off x="457200" y="15343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2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. Problem Definition &amp; Proposed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7058800" name="Google Shape;100;p7"/>
          <p:cNvSpPr/>
          <p:nvPr/>
        </p:nvSpPr>
        <p:spPr bwMode="auto">
          <a:xfrm>
            <a:off x="457200" y="685800"/>
            <a:ext cx="8229600" cy="36576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7833094" name="Google Shape;101;p7"/>
          <p:cNvSpPr/>
          <p:nvPr/>
        </p:nvSpPr>
        <p:spPr bwMode="auto">
          <a:xfrm>
            <a:off x="457200" y="938500"/>
            <a:ext cx="3840600" cy="3981000"/>
          </a:xfrm>
          <a:prstGeom prst="roundRect">
            <a:avLst>
              <a:gd name="adj" fmla="val 1860"/>
            </a:avLst>
          </a:prstGeom>
          <a:solidFill>
            <a:srgbClr val="0D3B66"/>
          </a:solidFill>
          <a:ln w="12700" cap="flat" cmpd="sng">
            <a:solidFill>
              <a:srgbClr val="EF233C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79208699" name="Google Shape;102;p7"/>
          <p:cNvSpPr/>
          <p:nvPr/>
        </p:nvSpPr>
        <p:spPr bwMode="auto">
          <a:xfrm>
            <a:off x="548590" y="938505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4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THE PROBLEM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6104544" name="Google Shape;103;p7"/>
          <p:cNvSpPr/>
          <p:nvPr/>
        </p:nvSpPr>
        <p:spPr bwMode="auto">
          <a:xfrm>
            <a:off x="594360" y="1280160"/>
            <a:ext cx="36576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Kubernetes environments face sophisticated threats: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SSRF Attacks</a:t>
            </a:r>
            <a:b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Reconnaissance &amp; network scanning</a:t>
            </a:r>
            <a:b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Privilege escalation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Container escapes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Traditional solutions fail:</a:t>
            </a:r>
            <a:b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✗ Reactive — detect after damage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✗ No real-time AI analysis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✗ Manual response — too slow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9233003" name="Google Shape;104;p7"/>
          <p:cNvSpPr/>
          <p:nvPr/>
        </p:nvSpPr>
        <p:spPr bwMode="auto">
          <a:xfrm>
            <a:off x="4754875" y="938475"/>
            <a:ext cx="3840600" cy="3981000"/>
          </a:xfrm>
          <a:prstGeom prst="roundRect">
            <a:avLst>
              <a:gd name="adj" fmla="val 0"/>
            </a:avLst>
          </a:prstGeom>
          <a:solidFill>
            <a:srgbClr val="0D3B66"/>
          </a:solidFill>
          <a:ln w="1270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0875924" name="Google Shape;105;p7"/>
          <p:cNvSpPr/>
          <p:nvPr/>
        </p:nvSpPr>
        <p:spPr bwMode="auto">
          <a:xfrm>
            <a:off x="4846320" y="938505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OUR SOLUTION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7812099" name="Google Shape;106;p7"/>
          <p:cNvSpPr/>
          <p:nvPr/>
        </p:nvSpPr>
        <p:spPr bwMode="auto">
          <a:xfrm>
            <a:off x="4846320" y="1280160"/>
            <a:ext cx="36576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A real-time, automated defense system detecting 2 attack types: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    SSRF  +  Reconnaissance</a:t>
            </a:r>
            <a:b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① Traffic Sniffer (KSniff)</a:t>
            </a:r>
            <a:b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   Captures live pod network traffic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② Data Processor (CICFlowMeter)</a:t>
            </a:r>
            <a:b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   Converts packets to ML-ready features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③ AI Detector (Naive Bayes)</a:t>
            </a:r>
            <a:endParaRPr sz="1200" b="1" i="0" u="none" strike="noStrike" cap="none">
              <a:solidFill>
                <a:srgbClr val="E8F4FD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endParaRPr sz="1200" b="1">
              <a:solidFill>
                <a:srgbClr val="E8F4FD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   Multi-class: Benign / SSRF / Recon</a:t>
            </a:r>
            <a:b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④ Mutation Webhook (KubeDeceive)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   Intercepts &amp; redirects to honeypot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94113182" name="Google Shape;107;p7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521496" name="Google Shape;113;p8"/>
          <p:cNvSpPr/>
          <p:nvPr/>
        </p:nvSpPr>
        <p:spPr bwMode="auto">
          <a:xfrm>
            <a:off x="457200" y="17574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2. Analysis &amp; Design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6929058" name="Google Shape;114;p8"/>
          <p:cNvSpPr/>
          <p:nvPr/>
        </p:nvSpPr>
        <p:spPr bwMode="auto">
          <a:xfrm>
            <a:off x="457200" y="685800"/>
            <a:ext cx="8229600" cy="36576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43965187" name="Google Shape;115;p8"/>
          <p:cNvSpPr/>
          <p:nvPr/>
        </p:nvSpPr>
        <p:spPr bwMode="auto">
          <a:xfrm>
            <a:off x="559618" y="964176"/>
            <a:ext cx="1375200" cy="12804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7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0035" dist="375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0025" tIns="90025" rIns="90025" bIns="90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pic>
        <p:nvPicPr>
          <p:cNvPr id="1107336805" name="Google Shape;116;p8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070612" y="1106573"/>
            <a:ext cx="450158" cy="4501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2583525" name="Google Shape;117;p8"/>
          <p:cNvSpPr/>
          <p:nvPr/>
        </p:nvSpPr>
        <p:spPr bwMode="auto">
          <a:xfrm>
            <a:off x="494324" y="1430698"/>
            <a:ext cx="1485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KSniff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Traffic Capture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74353113" name="Google Shape;118;p8"/>
          <p:cNvCxnSpPr/>
          <p:nvPr/>
        </p:nvCxnSpPr>
        <p:spPr bwMode="auto">
          <a:xfrm>
            <a:off x="1979848" y="1583752"/>
            <a:ext cx="198300" cy="0"/>
          </a:xfrm>
          <a:prstGeom prst="straightConnector1">
            <a:avLst/>
          </a:prstGeom>
          <a:noFill/>
          <a:ln w="250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6593320" name="Google Shape;119;p8"/>
          <p:cNvSpPr/>
          <p:nvPr/>
        </p:nvSpPr>
        <p:spPr bwMode="auto">
          <a:xfrm>
            <a:off x="2096890" y="1493721"/>
            <a:ext cx="19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83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0810799" name="Google Shape;120;p8"/>
          <p:cNvSpPr/>
          <p:nvPr/>
        </p:nvSpPr>
        <p:spPr bwMode="auto">
          <a:xfrm>
            <a:off x="2177930" y="964102"/>
            <a:ext cx="1485600" cy="13218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7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100035" dist="375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0025" tIns="90025" rIns="90025" bIns="90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pic>
        <p:nvPicPr>
          <p:cNvPr id="1540392664" name="Google Shape;121;p8" descr="preencoded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2754194" y="1043558"/>
            <a:ext cx="450158" cy="450158"/>
          </a:xfrm>
          <a:prstGeom prst="rect">
            <a:avLst/>
          </a:prstGeom>
          <a:noFill/>
          <a:ln>
            <a:noFill/>
          </a:ln>
        </p:spPr>
      </p:pic>
      <p:sp>
        <p:nvSpPr>
          <p:cNvPr id="139007790" name="Google Shape;122;p8"/>
          <p:cNvSpPr/>
          <p:nvPr/>
        </p:nvSpPr>
        <p:spPr bwMode="auto">
          <a:xfrm>
            <a:off x="2177918" y="1430698"/>
            <a:ext cx="1485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CICFlowMeter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 Extraction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703147706" name="Google Shape;123;p8"/>
          <p:cNvCxnSpPr/>
          <p:nvPr/>
        </p:nvCxnSpPr>
        <p:spPr bwMode="auto">
          <a:xfrm>
            <a:off x="3663443" y="1583752"/>
            <a:ext cx="198000" cy="0"/>
          </a:xfrm>
          <a:prstGeom prst="straightConnector1">
            <a:avLst/>
          </a:prstGeom>
          <a:noFill/>
          <a:ln w="250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4753325" name="Google Shape;124;p8"/>
          <p:cNvSpPr/>
          <p:nvPr/>
        </p:nvSpPr>
        <p:spPr bwMode="auto">
          <a:xfrm>
            <a:off x="3780484" y="1493721"/>
            <a:ext cx="19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83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81449716" name="Google Shape;125;p8"/>
          <p:cNvSpPr/>
          <p:nvPr/>
        </p:nvSpPr>
        <p:spPr bwMode="auto">
          <a:xfrm>
            <a:off x="3861521" y="964176"/>
            <a:ext cx="1440600" cy="13218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75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100035" dist="375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0025" tIns="90025" rIns="90025" bIns="90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pic>
        <p:nvPicPr>
          <p:cNvPr id="727990945" name="Google Shape;126;p8" descr="preencoded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379168" y="1043558"/>
            <a:ext cx="450158" cy="450158"/>
          </a:xfrm>
          <a:prstGeom prst="rect">
            <a:avLst/>
          </a:prstGeom>
          <a:noFill/>
          <a:ln>
            <a:noFill/>
          </a:ln>
        </p:spPr>
      </p:pic>
      <p:sp>
        <p:nvSpPr>
          <p:cNvPr id="1559538202" name="Google Shape;127;p8"/>
          <p:cNvSpPr/>
          <p:nvPr/>
        </p:nvSpPr>
        <p:spPr bwMode="auto">
          <a:xfrm>
            <a:off x="3861512" y="1430698"/>
            <a:ext cx="1485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Naive Bayes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Detection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219556939" name="Google Shape;128;p8"/>
          <p:cNvCxnSpPr/>
          <p:nvPr/>
        </p:nvCxnSpPr>
        <p:spPr bwMode="auto">
          <a:xfrm>
            <a:off x="5347037" y="1583752"/>
            <a:ext cx="198000" cy="0"/>
          </a:xfrm>
          <a:prstGeom prst="straightConnector1">
            <a:avLst/>
          </a:prstGeom>
          <a:noFill/>
          <a:ln w="250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0094574" name="Google Shape;129;p8"/>
          <p:cNvSpPr/>
          <p:nvPr/>
        </p:nvSpPr>
        <p:spPr bwMode="auto">
          <a:xfrm>
            <a:off x="5464078" y="1493721"/>
            <a:ext cx="198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83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8852309" name="Google Shape;130;p8"/>
          <p:cNvSpPr/>
          <p:nvPr/>
        </p:nvSpPr>
        <p:spPr bwMode="auto">
          <a:xfrm>
            <a:off x="5504596" y="959425"/>
            <a:ext cx="1440600" cy="13218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75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100035" dist="375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0025" tIns="90025" rIns="90025" bIns="90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pic>
        <p:nvPicPr>
          <p:cNvPr id="1475709118" name="Google Shape;131;p8" descr="preencoded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040313" y="1043558"/>
            <a:ext cx="450158" cy="450158"/>
          </a:xfrm>
          <a:prstGeom prst="rect">
            <a:avLst/>
          </a:prstGeom>
          <a:noFill/>
          <a:ln>
            <a:noFill/>
          </a:ln>
        </p:spPr>
      </p:pic>
      <p:sp>
        <p:nvSpPr>
          <p:cNvPr id="127525494" name="Google Shape;132;p8"/>
          <p:cNvSpPr/>
          <p:nvPr/>
        </p:nvSpPr>
        <p:spPr bwMode="auto">
          <a:xfrm>
            <a:off x="5545107" y="1430698"/>
            <a:ext cx="1485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Mutation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Webhook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956639994" name="Google Shape;133;p8"/>
          <p:cNvCxnSpPr/>
          <p:nvPr/>
        </p:nvCxnSpPr>
        <p:spPr bwMode="auto">
          <a:xfrm>
            <a:off x="7030631" y="1583752"/>
            <a:ext cx="198000" cy="0"/>
          </a:xfrm>
          <a:prstGeom prst="straightConnector1">
            <a:avLst/>
          </a:prstGeom>
          <a:noFill/>
          <a:ln w="250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159655" name="Google Shape;134;p8"/>
          <p:cNvSpPr/>
          <p:nvPr/>
        </p:nvSpPr>
        <p:spPr bwMode="auto">
          <a:xfrm>
            <a:off x="7147672" y="1493721"/>
            <a:ext cx="1983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83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▶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8884360" name="Google Shape;135;p8"/>
          <p:cNvSpPr/>
          <p:nvPr/>
        </p:nvSpPr>
        <p:spPr bwMode="auto">
          <a:xfrm>
            <a:off x="7228704" y="964126"/>
            <a:ext cx="1485600" cy="13218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750" cap="flat" cmpd="sng">
            <a:solidFill>
              <a:srgbClr val="EF233C"/>
            </a:solidFill>
            <a:prstDash val="solid"/>
            <a:round/>
            <a:headEnd type="none" w="sm" len="sm"/>
            <a:tailEnd type="none" w="sm" len="sm"/>
          </a:ln>
          <a:effectLst>
            <a:outerShdw blurRad="100035" dist="375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0025" tIns="90025" rIns="90025" bIns="90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pic>
        <p:nvPicPr>
          <p:cNvPr id="2146045571" name="Google Shape;136;p8" descr="preencoded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7701458" y="1106573"/>
            <a:ext cx="450158" cy="450158"/>
          </a:xfrm>
          <a:prstGeom prst="rect">
            <a:avLst/>
          </a:prstGeom>
          <a:noFill/>
          <a:ln>
            <a:noFill/>
          </a:ln>
        </p:spPr>
      </p:pic>
      <p:sp>
        <p:nvSpPr>
          <p:cNvPr id="456024608" name="Google Shape;137;p8"/>
          <p:cNvSpPr/>
          <p:nvPr/>
        </p:nvSpPr>
        <p:spPr bwMode="auto">
          <a:xfrm>
            <a:off x="7228701" y="1430698"/>
            <a:ext cx="1485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25" tIns="45000" rIns="90025" bIns="45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Honeypot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Decoy System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8210833" name="Google Shape;138;p8"/>
          <p:cNvSpPr/>
          <p:nvPr/>
        </p:nvSpPr>
        <p:spPr bwMode="auto">
          <a:xfrm>
            <a:off x="706105" y="2455574"/>
            <a:ext cx="7810200" cy="408899"/>
          </a:xfrm>
          <a:prstGeom prst="roundRect">
            <a:avLst>
              <a:gd name="adj" fmla="val 13333"/>
            </a:avLst>
          </a:prstGeom>
          <a:solidFill>
            <a:srgbClr val="1A0A00"/>
          </a:solidFill>
          <a:ln w="12625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800" tIns="90800" rIns="90800" bIns="90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sp>
        <p:nvSpPr>
          <p:cNvPr id="800259657" name="Google Shape;139;p8"/>
          <p:cNvSpPr/>
          <p:nvPr/>
        </p:nvSpPr>
        <p:spPr bwMode="auto">
          <a:xfrm>
            <a:off x="706110" y="2514600"/>
            <a:ext cx="781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800" tIns="45400" rIns="90800" bIns="4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42"/>
              <a:buFont typeface="Calibri"/>
              <a:buNone/>
              <a:defRPr/>
            </a:pPr>
            <a:r>
              <a:rPr lang="en-US" sz="105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⚡ Upgrade from Seminar 2:  Security Controller  →  Mutation Webhook  |  1 attack type  →  2 attack types (SSRF + Reconnaissance)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783609" name="Google Shape;140;p8"/>
          <p:cNvSpPr/>
          <p:nvPr/>
        </p:nvSpPr>
        <p:spPr bwMode="auto">
          <a:xfrm>
            <a:off x="951050" y="3038883"/>
            <a:ext cx="7320300" cy="494399"/>
          </a:xfrm>
          <a:prstGeom prst="roundRect">
            <a:avLst>
              <a:gd name="adj" fmla="val 9677"/>
            </a:avLst>
          </a:prstGeom>
          <a:solidFill>
            <a:srgbClr val="0D3B66"/>
          </a:solidFill>
          <a:ln w="937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900" tIns="89900" rIns="89900" bIns="89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sp>
        <p:nvSpPr>
          <p:cNvPr id="385960845" name="Google Shape;141;p8"/>
          <p:cNvSpPr/>
          <p:nvPr/>
        </p:nvSpPr>
        <p:spPr bwMode="auto">
          <a:xfrm>
            <a:off x="1095502" y="3068050"/>
            <a:ext cx="10065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00" tIns="44950" rIns="89900" bIns="44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8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Functional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7146324" name="Google Shape;142;p8"/>
          <p:cNvSpPr/>
          <p:nvPr/>
        </p:nvSpPr>
        <p:spPr bwMode="auto">
          <a:xfrm>
            <a:off x="2039877" y="3083697"/>
            <a:ext cx="64638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00" tIns="44950" rIns="89900" bIns="44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82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Capture traffic · Extract 80+ features · Multi-class AI (Benign/SSRF/Recon) · Webhook intercept · Honeypot redirect ·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9196720" name="Google Shape;143;p8"/>
          <p:cNvSpPr/>
          <p:nvPr/>
        </p:nvSpPr>
        <p:spPr bwMode="auto">
          <a:xfrm>
            <a:off x="951050" y="3623169"/>
            <a:ext cx="7320300" cy="557400"/>
          </a:xfrm>
          <a:prstGeom prst="roundRect">
            <a:avLst>
              <a:gd name="adj" fmla="val 9677"/>
            </a:avLst>
          </a:prstGeom>
          <a:solidFill>
            <a:srgbClr val="0D3B66"/>
          </a:solidFill>
          <a:ln w="937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900" tIns="89900" rIns="89900" bIns="89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sp>
        <p:nvSpPr>
          <p:cNvPr id="610288360" name="Google Shape;144;p8"/>
          <p:cNvSpPr/>
          <p:nvPr/>
        </p:nvSpPr>
        <p:spPr bwMode="auto">
          <a:xfrm>
            <a:off x="951052" y="3731137"/>
            <a:ext cx="12138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00" tIns="44950" rIns="89900" bIns="44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8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Non-Functional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1189937" name="Google Shape;145;p8"/>
          <p:cNvSpPr/>
          <p:nvPr/>
        </p:nvSpPr>
        <p:spPr bwMode="auto">
          <a:xfrm>
            <a:off x="2299826" y="3731077"/>
            <a:ext cx="6204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00" tIns="44950" rIns="89900" bIns="44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82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Low latency (&lt;2s) · High availability · Scalable pods · Isolated namespaces · RBAC security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3832968" name="Google Shape;146;p8"/>
          <p:cNvSpPr/>
          <p:nvPr/>
        </p:nvSpPr>
        <p:spPr bwMode="auto">
          <a:xfrm>
            <a:off x="951050" y="4270560"/>
            <a:ext cx="7320300" cy="557400"/>
          </a:xfrm>
          <a:prstGeom prst="roundRect">
            <a:avLst>
              <a:gd name="adj" fmla="val 9677"/>
            </a:avLst>
          </a:prstGeom>
          <a:solidFill>
            <a:srgbClr val="0D3B66"/>
          </a:solidFill>
          <a:ln w="937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9900" tIns="89900" rIns="89900" bIns="89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/>
          </a:p>
        </p:txBody>
      </p:sp>
      <p:sp>
        <p:nvSpPr>
          <p:cNvPr id="1632913599" name="Google Shape;147;p8"/>
          <p:cNvSpPr/>
          <p:nvPr/>
        </p:nvSpPr>
        <p:spPr bwMode="auto">
          <a:xfrm>
            <a:off x="951050" y="4378577"/>
            <a:ext cx="11043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00" tIns="44950" rIns="89900" bIns="44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80"/>
              <a:buFont typeface="Calibri"/>
              <a:buNone/>
              <a:defRPr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Environment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7529955" name="Google Shape;148;p8"/>
          <p:cNvSpPr/>
          <p:nvPr/>
        </p:nvSpPr>
        <p:spPr bwMode="auto">
          <a:xfrm>
            <a:off x="2299826" y="4378461"/>
            <a:ext cx="6204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00" tIns="44950" rIns="89900" bIns="44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82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Kubernetes KIND multi-node cluster · Shared PVC storage · Isolated namespaces (security / production / attacker)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20370413" name="Google Shape;149;p8" descr="preencoded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566299" name="Google Shape;155;p9"/>
          <p:cNvSpPr/>
          <p:nvPr/>
        </p:nvSpPr>
        <p:spPr bwMode="auto">
          <a:xfrm>
            <a:off x="457200" y="15343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3. Techniques &amp; Algorithms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3059975" name="Google Shape;156;p9"/>
          <p:cNvSpPr/>
          <p:nvPr/>
        </p:nvSpPr>
        <p:spPr bwMode="auto">
          <a:xfrm rot="10800000" flipH="1">
            <a:off x="457200" y="712198"/>
            <a:ext cx="7977600" cy="45600"/>
          </a:xfrm>
          <a:prstGeom prst="rect">
            <a:avLst/>
          </a:prstGeom>
          <a:solidFill>
            <a:srgbClr val="0077B6"/>
          </a:solidFill>
          <a:ln w="122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25" tIns="88125" rIns="88125" bIns="8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6921694" name="Google Shape;157;p9"/>
          <p:cNvSpPr/>
          <p:nvPr/>
        </p:nvSpPr>
        <p:spPr bwMode="auto">
          <a:xfrm>
            <a:off x="457200" y="952939"/>
            <a:ext cx="5024400" cy="3966600"/>
          </a:xfrm>
          <a:prstGeom prst="roundRect">
            <a:avLst>
              <a:gd name="adj" fmla="val 1778"/>
            </a:avLst>
          </a:prstGeom>
          <a:solidFill>
            <a:srgbClr val="0D3B66"/>
          </a:solidFill>
          <a:ln w="122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97939" dist="36727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8125" tIns="88125" rIns="88125" bIns="8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65481359" name="Google Shape;158;p9"/>
          <p:cNvSpPr/>
          <p:nvPr/>
        </p:nvSpPr>
        <p:spPr bwMode="auto">
          <a:xfrm>
            <a:off x="589418" y="1032269"/>
            <a:ext cx="47598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50"/>
              <a:buFont typeface="Calibri"/>
              <a:buNone/>
              <a:defRPr/>
            </a:pPr>
            <a:r>
              <a:rPr lang="en-US" sz="135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Gaussian Naive Bayes — Multi-Class Classifier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109291" name="Google Shape;159;p9"/>
          <p:cNvSpPr/>
          <p:nvPr/>
        </p:nvSpPr>
        <p:spPr bwMode="auto">
          <a:xfrm>
            <a:off x="633491" y="1455367"/>
            <a:ext cx="46716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9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Algorithm: Gaussian Naive Bayes — O(n) efficiency, ideal for real-time classification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9948081" name="Google Shape;160;p9"/>
          <p:cNvSpPr/>
          <p:nvPr/>
        </p:nvSpPr>
        <p:spPr bwMode="auto">
          <a:xfrm>
            <a:off x="633491" y="1940165"/>
            <a:ext cx="46716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9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Preprocessing: StandardScaler normalization + class balancing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7033013" name="Google Shape;161;p9"/>
          <p:cNvSpPr/>
          <p:nvPr/>
        </p:nvSpPr>
        <p:spPr bwMode="auto">
          <a:xfrm>
            <a:off x="633491" y="2424964"/>
            <a:ext cx="46716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9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Input: 80+ CICFlowMeter features (packet length, flow duration, protocol flags…)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5533953" name="Google Shape;162;p9"/>
          <p:cNvSpPr/>
          <p:nvPr/>
        </p:nvSpPr>
        <p:spPr bwMode="auto">
          <a:xfrm>
            <a:off x="633491" y="2909763"/>
            <a:ext cx="46716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9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• Output: 3-class → Benign  /  SSRF  /  Reconnaissance   ← upgraded from binary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663269" name="Google Shape;163;p9"/>
          <p:cNvSpPr/>
          <p:nvPr/>
        </p:nvSpPr>
        <p:spPr bwMode="auto">
          <a:xfrm>
            <a:off x="633491" y="3394562"/>
            <a:ext cx="46716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9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Optimized for RECALL — catching attacks is higher priority than false positive rate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3685442" name="Google Shape;164;p9"/>
          <p:cNvSpPr/>
          <p:nvPr/>
        </p:nvSpPr>
        <p:spPr bwMode="auto">
          <a:xfrm>
            <a:off x="633491" y="3879361"/>
            <a:ext cx="46716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9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• Deployed as Flask REST API inside Kubernetes (ai-service via KServe)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4582196" name="Google Shape;165;p9"/>
          <p:cNvSpPr/>
          <p:nvPr/>
        </p:nvSpPr>
        <p:spPr bwMode="auto">
          <a:xfrm>
            <a:off x="5657771" y="952939"/>
            <a:ext cx="2732400" cy="2027400"/>
          </a:xfrm>
          <a:prstGeom prst="roundRect">
            <a:avLst>
              <a:gd name="adj" fmla="val 3478"/>
            </a:avLst>
          </a:prstGeom>
          <a:solidFill>
            <a:srgbClr val="0D3B66"/>
          </a:solidFill>
          <a:ln w="18375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97939" dist="36727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8125" tIns="88125" rIns="88125" bIns="8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3522422" name="Google Shape;166;p9"/>
          <p:cNvSpPr/>
          <p:nvPr/>
        </p:nvSpPr>
        <p:spPr bwMode="auto">
          <a:xfrm>
            <a:off x="5657771" y="952939"/>
            <a:ext cx="2732400" cy="370200"/>
          </a:xfrm>
          <a:prstGeom prst="roundRect">
            <a:avLst>
              <a:gd name="adj" fmla="val 19048"/>
            </a:avLst>
          </a:prstGeom>
          <a:solidFill>
            <a:srgbClr val="06D6A0"/>
          </a:solidFill>
          <a:ln w="1225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125" tIns="88125" rIns="88125" bIns="8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94458216" name="Google Shape;167;p9"/>
          <p:cNvSpPr/>
          <p:nvPr/>
        </p:nvSpPr>
        <p:spPr bwMode="auto">
          <a:xfrm>
            <a:off x="5701844" y="997011"/>
            <a:ext cx="2644500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57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NEW: Mutation Webhook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4665841" name="Google Shape;168;p9"/>
          <p:cNvSpPr/>
          <p:nvPr/>
        </p:nvSpPr>
        <p:spPr bwMode="auto">
          <a:xfrm>
            <a:off x="5789989" y="1384850"/>
            <a:ext cx="24681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Replaces Python Security Controller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Intercepts K8s API requests in-flight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Go server: reject / delay / redirect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TLS-secured Webhook Pod (RBAC)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No polling — event-driven &amp; instant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Audit logs for threat intelligence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8296676" name="Google Shape;169;p9"/>
          <p:cNvSpPr/>
          <p:nvPr/>
        </p:nvSpPr>
        <p:spPr bwMode="auto">
          <a:xfrm>
            <a:off x="5657771" y="3068425"/>
            <a:ext cx="2732400" cy="1851000"/>
          </a:xfrm>
          <a:prstGeom prst="roundRect">
            <a:avLst>
              <a:gd name="adj" fmla="val 3810"/>
            </a:avLst>
          </a:prstGeom>
          <a:solidFill>
            <a:srgbClr val="0D3B66"/>
          </a:solidFill>
          <a:ln w="1225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97939" dist="36727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8125" tIns="88125" rIns="88125" bIns="88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35323678" name="Google Shape;170;p9"/>
          <p:cNvSpPr/>
          <p:nvPr/>
        </p:nvSpPr>
        <p:spPr bwMode="auto">
          <a:xfrm>
            <a:off x="5789989" y="3147755"/>
            <a:ext cx="2468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53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Feature Engineering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5873936" name="Google Shape;171;p9"/>
          <p:cNvSpPr/>
          <p:nvPr/>
        </p:nvSpPr>
        <p:spPr bwMode="auto">
          <a:xfrm>
            <a:off x="5789989" y="3544409"/>
            <a:ext cx="2468100" cy="119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25" tIns="44050" rIns="88125" bIns="440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PCA for dimensionality reduction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Autoencoders for anomaly baseline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StandardScaler normalization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60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Top-k feature selection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50340097" name="Google Shape;172;p9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650109" name="Google Shape;178;p10"/>
          <p:cNvSpPr/>
          <p:nvPr/>
        </p:nvSpPr>
        <p:spPr bwMode="auto"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4. Experiments &amp; Implementation — Results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7776955" name="Google Shape;179;p10"/>
          <p:cNvSpPr/>
          <p:nvPr/>
        </p:nvSpPr>
        <p:spPr bwMode="auto">
          <a:xfrm>
            <a:off x="457200" y="685800"/>
            <a:ext cx="8229600" cy="36576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88276033" name="Google Shape;180;p10"/>
          <p:cNvSpPr/>
          <p:nvPr/>
        </p:nvSpPr>
        <p:spPr bwMode="auto">
          <a:xfrm>
            <a:off x="788235" y="911974"/>
            <a:ext cx="1792200" cy="13800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55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98933" dist="37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025" tIns="89025" rIns="89025" bIns="89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31491909" name="Google Shape;181;p10"/>
          <p:cNvSpPr/>
          <p:nvPr/>
        </p:nvSpPr>
        <p:spPr bwMode="auto">
          <a:xfrm>
            <a:off x="788235" y="1001015"/>
            <a:ext cx="1792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3116"/>
              <a:buFont typeface="Calibri"/>
              <a:buNone/>
              <a:defRPr/>
            </a:pPr>
            <a:r>
              <a:rPr lang="en-US" sz="3100" b="1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99%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9342134" name="Google Shape;182;p10"/>
          <p:cNvSpPr/>
          <p:nvPr/>
        </p:nvSpPr>
        <p:spPr bwMode="auto">
          <a:xfrm>
            <a:off x="788235" y="1659912"/>
            <a:ext cx="1792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71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SSRF Recall Rate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4772363" name="Google Shape;183;p10"/>
          <p:cNvSpPr/>
          <p:nvPr/>
        </p:nvSpPr>
        <p:spPr bwMode="auto">
          <a:xfrm>
            <a:off x="2733866" y="911974"/>
            <a:ext cx="1792200" cy="13800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5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98933" dist="37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025" tIns="89025" rIns="89025" bIns="89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941871" name="Google Shape;184;p10"/>
          <p:cNvSpPr/>
          <p:nvPr/>
        </p:nvSpPr>
        <p:spPr bwMode="auto">
          <a:xfrm>
            <a:off x="2733866" y="1001015"/>
            <a:ext cx="1792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116"/>
              <a:buFont typeface="Calibri"/>
              <a:buNone/>
              <a:defRPr/>
            </a:pPr>
            <a:r>
              <a:rPr lang="en-US" sz="31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91%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5500895" name="Google Shape;185;p10"/>
          <p:cNvSpPr/>
          <p:nvPr/>
        </p:nvSpPr>
        <p:spPr bwMode="auto">
          <a:xfrm>
            <a:off x="2733866" y="1659912"/>
            <a:ext cx="1792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71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Recon Accuracy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3853004" name="Google Shape;186;p10"/>
          <p:cNvSpPr/>
          <p:nvPr/>
        </p:nvSpPr>
        <p:spPr bwMode="auto">
          <a:xfrm>
            <a:off x="4679496" y="911974"/>
            <a:ext cx="1792200" cy="13800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55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98933" dist="37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025" tIns="89025" rIns="89025" bIns="89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83168272" name="Google Shape;187;p10"/>
          <p:cNvSpPr/>
          <p:nvPr/>
        </p:nvSpPr>
        <p:spPr bwMode="auto">
          <a:xfrm>
            <a:off x="4679496" y="1001015"/>
            <a:ext cx="1792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3116"/>
              <a:buFont typeface="Calibri"/>
              <a:buNone/>
              <a:defRPr/>
            </a:pPr>
            <a:r>
              <a:rPr lang="en-US" sz="310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2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08107732" name="Google Shape;188;p10"/>
          <p:cNvSpPr/>
          <p:nvPr/>
        </p:nvSpPr>
        <p:spPr bwMode="auto">
          <a:xfrm>
            <a:off x="4679496" y="1659912"/>
            <a:ext cx="1792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71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Attack Types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71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Detected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6446718" name="Google Shape;189;p10"/>
          <p:cNvSpPr/>
          <p:nvPr/>
        </p:nvSpPr>
        <p:spPr bwMode="auto">
          <a:xfrm>
            <a:off x="6625128" y="911974"/>
            <a:ext cx="1792200" cy="1380000"/>
          </a:xfrm>
          <a:prstGeom prst="roundRect">
            <a:avLst>
              <a:gd name="adj" fmla="val 5161"/>
            </a:avLst>
          </a:prstGeom>
          <a:solidFill>
            <a:srgbClr val="0D3B66"/>
          </a:solidFill>
          <a:ln w="1855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98933" dist="37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025" tIns="89025" rIns="89025" bIns="89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87286727" name="Google Shape;190;p10"/>
          <p:cNvSpPr/>
          <p:nvPr/>
        </p:nvSpPr>
        <p:spPr bwMode="auto">
          <a:xfrm>
            <a:off x="6625128" y="1001015"/>
            <a:ext cx="17922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3116"/>
              <a:buFont typeface="Calibri"/>
              <a:buNone/>
              <a:defRPr/>
            </a:pPr>
            <a:r>
              <a:rPr lang="en-US" sz="3100" b="1" i="0" u="none" strike="noStrike" cap="none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&lt;2s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5183689" name="Google Shape;191;p10"/>
          <p:cNvSpPr/>
          <p:nvPr/>
        </p:nvSpPr>
        <p:spPr bwMode="auto">
          <a:xfrm>
            <a:off x="6625128" y="1659912"/>
            <a:ext cx="17922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025" tIns="44500" rIns="89025" bIns="44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071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Detection Latency</a:t>
            </a:r>
            <a:endParaRPr sz="10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0597980" name="Google Shape;192;p10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960275" y="2536450"/>
            <a:ext cx="3628200" cy="2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46111" name="Google Shape;193;p10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789125" y="2536450"/>
            <a:ext cx="3628200" cy="2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22326" name="Google Shape;194;p10" descr="preencoded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858583" name="Google Shape;200;p11"/>
          <p:cNvSpPr/>
          <p:nvPr/>
        </p:nvSpPr>
        <p:spPr bwMode="auto"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4. Implementation Steps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0772834" name="Google Shape;201;p11"/>
          <p:cNvSpPr/>
          <p:nvPr/>
        </p:nvSpPr>
        <p:spPr bwMode="auto">
          <a:xfrm>
            <a:off x="457200" y="685800"/>
            <a:ext cx="8229600" cy="36576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9120917" name="Google Shape;202;p11"/>
          <p:cNvSpPr/>
          <p:nvPr/>
        </p:nvSpPr>
        <p:spPr bwMode="auto">
          <a:xfrm>
            <a:off x="602500" y="970675"/>
            <a:ext cx="8023500" cy="891300"/>
          </a:xfrm>
          <a:prstGeom prst="roundRect">
            <a:avLst>
              <a:gd name="adj" fmla="val 7000"/>
            </a:avLst>
          </a:prstGeom>
          <a:solidFill>
            <a:srgbClr val="0D3B66"/>
          </a:solidFill>
          <a:ln w="1237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99053" dist="37145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125" tIns="89125" rIns="89125" bIns="89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21355636" name="Google Shape;203;p11"/>
          <p:cNvSpPr/>
          <p:nvPr/>
        </p:nvSpPr>
        <p:spPr bwMode="auto">
          <a:xfrm>
            <a:off x="780796" y="1033078"/>
            <a:ext cx="7666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70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Phase 1 — Infrastructure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5109740" name="Google Shape;204;p11"/>
          <p:cNvSpPr/>
          <p:nvPr/>
        </p:nvSpPr>
        <p:spPr bwMode="auto">
          <a:xfrm>
            <a:off x="780796" y="1371840"/>
            <a:ext cx="766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72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Multi-node KIND cluster with namespaced isolation   •   PV + PVC shared storage for real-time data exchange   •   Sniffer pod capturing traffic via tcpdump / KSniff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8827275" name="Google Shape;205;p11"/>
          <p:cNvSpPr/>
          <p:nvPr/>
        </p:nvSpPr>
        <p:spPr bwMode="auto">
          <a:xfrm>
            <a:off x="602500" y="1995875"/>
            <a:ext cx="8023500" cy="891300"/>
          </a:xfrm>
          <a:prstGeom prst="roundRect">
            <a:avLst>
              <a:gd name="adj" fmla="val 7000"/>
            </a:avLst>
          </a:prstGeom>
          <a:solidFill>
            <a:srgbClr val="0D3B66"/>
          </a:solidFill>
          <a:ln w="12375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99053" dist="37145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125" tIns="89125" rIns="89125" bIns="89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49969460" name="Google Shape;206;p11"/>
          <p:cNvSpPr/>
          <p:nvPr/>
        </p:nvSpPr>
        <p:spPr bwMode="auto">
          <a:xfrm>
            <a:off x="780796" y="2058278"/>
            <a:ext cx="7666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70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Phase 2 — AI Detection </a:t>
            </a:r>
            <a:r>
              <a:rPr lang="en-US" sz="1150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(upgraded: 1 → 2 attack types)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8674886" name="Google Shape;207;p11"/>
          <p:cNvSpPr/>
          <p:nvPr/>
        </p:nvSpPr>
        <p:spPr bwMode="auto">
          <a:xfrm>
            <a:off x="780796" y="2397040"/>
            <a:ext cx="766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72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CICFlowMeter extracts 80+ features every 5 seconds   •   Naive Bayes model — now classifies: Benign / SSRF / Reconnaissance   •   Deployed as Flask API via KServe inside the cluster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8426625" name="Google Shape;208;p11"/>
          <p:cNvSpPr/>
          <p:nvPr/>
        </p:nvSpPr>
        <p:spPr bwMode="auto">
          <a:xfrm>
            <a:off x="602500" y="3021075"/>
            <a:ext cx="8023500" cy="891300"/>
          </a:xfrm>
          <a:prstGeom prst="roundRect">
            <a:avLst>
              <a:gd name="adj" fmla="val 7000"/>
            </a:avLst>
          </a:prstGeom>
          <a:solidFill>
            <a:srgbClr val="0D3B66"/>
          </a:solidFill>
          <a:ln w="12375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99053" dist="37145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125" tIns="89125" rIns="89125" bIns="89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2313332" name="Google Shape;209;p11"/>
          <p:cNvSpPr/>
          <p:nvPr/>
        </p:nvSpPr>
        <p:spPr bwMode="auto">
          <a:xfrm>
            <a:off x="780796" y="3083478"/>
            <a:ext cx="7666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70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Phase 3 — Deception via Mutation Webhook   (upgraded: Controller → Webhook)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8254200" name="Google Shape;210;p11"/>
          <p:cNvSpPr/>
          <p:nvPr/>
        </p:nvSpPr>
        <p:spPr bwMode="auto">
          <a:xfrm>
            <a:off x="780796" y="3422240"/>
            <a:ext cx="766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72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KubeDeceive Mutation Webhook intercepts K8s API requests in-flight   •   Go server applies: reject / delay / redirect logic without polling   •   Honeypot + audit logs + Streamlit real-time dashboard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9304307" name="Google Shape;211;p11"/>
          <p:cNvSpPr/>
          <p:nvPr/>
        </p:nvSpPr>
        <p:spPr bwMode="auto">
          <a:xfrm>
            <a:off x="602500" y="4046274"/>
            <a:ext cx="8023500" cy="891300"/>
          </a:xfrm>
          <a:prstGeom prst="roundRect">
            <a:avLst>
              <a:gd name="adj" fmla="val 7000"/>
            </a:avLst>
          </a:prstGeom>
          <a:solidFill>
            <a:srgbClr val="0D3B66"/>
          </a:solidFill>
          <a:ln w="1237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99053" dist="37145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9125" tIns="89125" rIns="89125" bIns="89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99027274" name="Google Shape;212;p11"/>
          <p:cNvSpPr/>
          <p:nvPr/>
        </p:nvSpPr>
        <p:spPr bwMode="auto">
          <a:xfrm>
            <a:off x="780796" y="4108678"/>
            <a:ext cx="7666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70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Phase 4 — Optimization 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0118539" name="Google Shape;213;p11"/>
          <p:cNvSpPr/>
          <p:nvPr/>
        </p:nvSpPr>
        <p:spPr bwMode="auto">
          <a:xfrm>
            <a:off x="780796" y="4447439"/>
            <a:ext cx="766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25" tIns="44550" rIns="89125" bIns="44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72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Direct kubectl cp extraction bypassing PVC lag (2s refresh)   •   Stress-tested with both SSRF and Reconnaissance attack simulations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09913001" name="Google Shape;214;p11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282950" name="Google Shape;220;p12"/>
          <p:cNvSpPr/>
          <p:nvPr/>
        </p:nvSpPr>
        <p:spPr bwMode="auto"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5. Problems Faced &amp; Limitations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0881174" name="Google Shape;221;p12"/>
          <p:cNvSpPr/>
          <p:nvPr/>
        </p:nvSpPr>
        <p:spPr bwMode="auto">
          <a:xfrm>
            <a:off x="457200" y="685800"/>
            <a:ext cx="8229600" cy="36576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08932315" name="Google Shape;222;p12"/>
          <p:cNvSpPr/>
          <p:nvPr/>
        </p:nvSpPr>
        <p:spPr bwMode="auto">
          <a:xfrm>
            <a:off x="540400" y="1015300"/>
            <a:ext cx="3911100" cy="1782000"/>
          </a:xfrm>
          <a:prstGeom prst="roundRect">
            <a:avLst>
              <a:gd name="adj" fmla="val 3902"/>
            </a:avLst>
          </a:prstGeom>
          <a:solidFill>
            <a:srgbClr val="0D3B66"/>
          </a:solidFill>
          <a:ln w="12075" cap="flat" cmpd="sng">
            <a:solidFill>
              <a:srgbClr val="EF233C"/>
            </a:solidFill>
            <a:prstDash val="solid"/>
            <a:round/>
            <a:headEnd type="none" w="sm" len="sm"/>
            <a:tailEnd type="none" w="sm" len="sm"/>
          </a:ln>
          <a:effectLst>
            <a:outerShdw blurRad="96571" dist="36214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6900" tIns="86900" rIns="86900" bIns="86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34595713" name="Google Shape;223;p12"/>
          <p:cNvSpPr/>
          <p:nvPr/>
        </p:nvSpPr>
        <p:spPr bwMode="auto">
          <a:xfrm>
            <a:off x="670771" y="1102214"/>
            <a:ext cx="3650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141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EF233C"/>
                </a:solidFill>
                <a:latin typeface="Calibri"/>
                <a:ea typeface="Calibri"/>
                <a:cs typeface="Calibri"/>
              </a:rPr>
              <a:t>RBAC Permission Denied (403)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239887" name="Google Shape;224;p12"/>
          <p:cNvSpPr/>
          <p:nvPr/>
        </p:nvSpPr>
        <p:spPr bwMode="auto">
          <a:xfrm>
            <a:off x="670771" y="1432488"/>
            <a:ext cx="3650400" cy="52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⚠  Security controller blocked from patching Kubernetes services — no write access by default.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8137186" name="Google Shape;225;p12"/>
          <p:cNvSpPr/>
          <p:nvPr/>
        </p:nvSpPr>
        <p:spPr bwMode="auto">
          <a:xfrm>
            <a:off x="670771" y="1988739"/>
            <a:ext cx="36504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✓  Created Service Account + Role + RoleBinding granting only 'patch/update' on Services.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7367930" name="Google Shape;226;p12"/>
          <p:cNvSpPr/>
          <p:nvPr/>
        </p:nvSpPr>
        <p:spPr bwMode="auto">
          <a:xfrm>
            <a:off x="4668824" y="1015300"/>
            <a:ext cx="3911100" cy="1782000"/>
          </a:xfrm>
          <a:prstGeom prst="roundRect">
            <a:avLst>
              <a:gd name="adj" fmla="val 3902"/>
            </a:avLst>
          </a:prstGeom>
          <a:solidFill>
            <a:srgbClr val="0D3B66"/>
          </a:solidFill>
          <a:ln w="12075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96571" dist="36214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6900" tIns="86900" rIns="86900" bIns="86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43068374" name="Google Shape;227;p12"/>
          <p:cNvSpPr/>
          <p:nvPr/>
        </p:nvSpPr>
        <p:spPr bwMode="auto">
          <a:xfrm>
            <a:off x="4799195" y="1102214"/>
            <a:ext cx="3650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41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30-Second PVC Sync Lag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0162173" name="Google Shape;228;p12"/>
          <p:cNvSpPr/>
          <p:nvPr/>
        </p:nvSpPr>
        <p:spPr bwMode="auto">
          <a:xfrm>
            <a:off x="4799195" y="1432488"/>
            <a:ext cx="3650400" cy="52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⚠  CSV data from CICFlowMeter trapped in pod's isolated filesystem — 10–30s delay.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8699168" name="Google Shape;229;p12"/>
          <p:cNvSpPr/>
          <p:nvPr/>
        </p:nvSpPr>
        <p:spPr bwMode="auto">
          <a:xfrm>
            <a:off x="4799195" y="1988739"/>
            <a:ext cx="36504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✓  Built direct extraction layer using kubectl cp in a loop every 2 seconds — bypassed PVC lag.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7260506" name="Google Shape;230;p12"/>
          <p:cNvSpPr/>
          <p:nvPr/>
        </p:nvSpPr>
        <p:spPr bwMode="auto">
          <a:xfrm>
            <a:off x="540400" y="2927413"/>
            <a:ext cx="3911100" cy="1782000"/>
          </a:xfrm>
          <a:prstGeom prst="roundRect">
            <a:avLst>
              <a:gd name="adj" fmla="val 3902"/>
            </a:avLst>
          </a:prstGeom>
          <a:solidFill>
            <a:srgbClr val="0D3B66"/>
          </a:solidFill>
          <a:ln w="1207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96571" dist="36214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6900" tIns="86900" rIns="86900" bIns="86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13037" name="Google Shape;231;p12"/>
          <p:cNvSpPr/>
          <p:nvPr/>
        </p:nvSpPr>
        <p:spPr bwMode="auto">
          <a:xfrm>
            <a:off x="670771" y="3014327"/>
            <a:ext cx="3650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41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False Positive Rate (~34%)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4434036" name="Google Shape;232;p12"/>
          <p:cNvSpPr/>
          <p:nvPr/>
        </p:nvSpPr>
        <p:spPr bwMode="auto">
          <a:xfrm>
            <a:off x="670771" y="3344601"/>
            <a:ext cx="3650400" cy="52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⚠  Naive Bayes generates false positives on benign traffic resembling SSRF/Recon patterns.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945271" name="Google Shape;233;p12"/>
          <p:cNvSpPr/>
          <p:nvPr/>
        </p:nvSpPr>
        <p:spPr bwMode="auto">
          <a:xfrm>
            <a:off x="670771" y="3900852"/>
            <a:ext cx="36504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✓  Accepted trade-off — FPs safely redirect to honeypot (Zero Trust). Recall prioritized over precision.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79744423" name="Google Shape;234;p12"/>
          <p:cNvSpPr/>
          <p:nvPr/>
        </p:nvSpPr>
        <p:spPr bwMode="auto">
          <a:xfrm>
            <a:off x="4668824" y="2927413"/>
            <a:ext cx="3911100" cy="1782000"/>
          </a:xfrm>
          <a:prstGeom prst="roundRect">
            <a:avLst>
              <a:gd name="adj" fmla="val 3902"/>
            </a:avLst>
          </a:prstGeom>
          <a:solidFill>
            <a:srgbClr val="0D3B66"/>
          </a:solidFill>
          <a:ln w="12075" cap="flat" cmpd="sng">
            <a:solidFill>
              <a:srgbClr val="8EAFC2"/>
            </a:solidFill>
            <a:prstDash val="solid"/>
            <a:round/>
            <a:headEnd type="none" w="sm" len="sm"/>
            <a:tailEnd type="none" w="sm" len="sm"/>
          </a:ln>
          <a:effectLst>
            <a:outerShdw blurRad="96571" dist="36214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6900" tIns="86900" rIns="86900" bIns="86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165883" name="Google Shape;235;p12"/>
          <p:cNvSpPr/>
          <p:nvPr/>
        </p:nvSpPr>
        <p:spPr bwMode="auto">
          <a:xfrm>
            <a:off x="4799195" y="3014327"/>
            <a:ext cx="3650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141"/>
              <a:buFont typeface="Calibri"/>
              <a:buNone/>
              <a:defRPr/>
            </a:pPr>
            <a:r>
              <a:rPr lang="en-US" sz="1150" b="1" i="0" u="none" strike="noStrike" cap="none">
                <a:solidFill>
                  <a:srgbClr val="8EAFC2"/>
                </a:solidFill>
                <a:latin typeface="Calibri"/>
                <a:ea typeface="Calibri"/>
                <a:cs typeface="Calibri"/>
              </a:rPr>
              <a:t>Reconnaissance vs. Benign Overlap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5955427" name="Google Shape;236;p12"/>
          <p:cNvSpPr/>
          <p:nvPr/>
        </p:nvSpPr>
        <p:spPr bwMode="auto">
          <a:xfrm>
            <a:off x="4799195" y="3344601"/>
            <a:ext cx="3650400" cy="52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⚠  Recon traffic closely resembles normal scanning, causing higher FP rate (6.5%) for this class.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026503" name="Google Shape;237;p12"/>
          <p:cNvSpPr/>
          <p:nvPr/>
        </p:nvSpPr>
        <p:spPr bwMode="auto">
          <a:xfrm>
            <a:off x="4799195" y="3900852"/>
            <a:ext cx="36504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900" tIns="43450" rIns="86900" bIns="43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998"/>
              <a:buFont typeface="Calibri"/>
              <a:buNone/>
              <a:defRPr/>
            </a:pPr>
            <a:r>
              <a:rPr lang="en-US" sz="1000" b="0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✓  Fine-tuned feature selection; planning threshold adjustment per class in future iterations.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49537854" name="Google Shape;238;p12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23911" name="Google Shape;244;p13"/>
          <p:cNvSpPr/>
          <p:nvPr/>
        </p:nvSpPr>
        <p:spPr bwMode="auto"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6. Demo / System Evaluation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257681" name="Google Shape;245;p13"/>
          <p:cNvSpPr/>
          <p:nvPr/>
        </p:nvSpPr>
        <p:spPr bwMode="auto">
          <a:xfrm>
            <a:off x="457200" y="685800"/>
            <a:ext cx="8229600" cy="36576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59878537" name="Google Shape;246;p13"/>
          <p:cNvSpPr/>
          <p:nvPr/>
        </p:nvSpPr>
        <p:spPr bwMode="auto">
          <a:xfrm>
            <a:off x="734955" y="914650"/>
            <a:ext cx="79047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5"/>
              <a:buFont typeface="Calibri"/>
              <a:buNone/>
              <a:defRPr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Attack Simulation Flow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4027018" name="Google Shape;247;p13"/>
          <p:cNvSpPr/>
          <p:nvPr/>
        </p:nvSpPr>
        <p:spPr bwMode="auto">
          <a:xfrm>
            <a:off x="647125" y="1309886"/>
            <a:ext cx="1185599" cy="1405200"/>
          </a:xfrm>
          <a:prstGeom prst="roundRect">
            <a:avLst>
              <a:gd name="adj" fmla="val 5926"/>
            </a:avLst>
          </a:prstGeom>
          <a:solidFill>
            <a:srgbClr val="0D3B66"/>
          </a:solidFill>
          <a:ln w="18325" cap="flat" cmpd="sng">
            <a:solidFill>
              <a:srgbClr val="EF233C"/>
            </a:solidFill>
            <a:prstDash val="solid"/>
            <a:round/>
            <a:headEnd type="none" w="sm" len="sm"/>
            <a:tailEnd type="none" w="sm" len="sm"/>
          </a:ln>
          <a:effectLst>
            <a:outerShdw blurRad="97589" dist="36596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19096735" name="Google Shape;248;p13"/>
          <p:cNvSpPr/>
          <p:nvPr/>
        </p:nvSpPr>
        <p:spPr bwMode="auto">
          <a:xfrm>
            <a:off x="1024793" y="1353801"/>
            <a:ext cx="438900" cy="351300"/>
          </a:xfrm>
          <a:prstGeom prst="ellipse">
            <a:avLst/>
          </a:prstGeom>
          <a:solidFill>
            <a:srgbClr val="EF233C"/>
          </a:solidFill>
          <a:ln w="12200" cap="flat" cmpd="sng">
            <a:solidFill>
              <a:srgbClr val="EF23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67914632" name="Google Shape;249;p13"/>
          <p:cNvSpPr/>
          <p:nvPr/>
        </p:nvSpPr>
        <p:spPr bwMode="auto">
          <a:xfrm>
            <a:off x="1024793" y="1371367"/>
            <a:ext cx="438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49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1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4795277" name="Google Shape;250;p13"/>
          <p:cNvSpPr/>
          <p:nvPr/>
        </p:nvSpPr>
        <p:spPr bwMode="auto">
          <a:xfrm>
            <a:off x="647125" y="1749037"/>
            <a:ext cx="1185599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Attacker launches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SSRF or Recon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traffic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8353060" name="Google Shape;251;p13"/>
          <p:cNvSpPr/>
          <p:nvPr/>
        </p:nvSpPr>
        <p:spPr bwMode="auto">
          <a:xfrm>
            <a:off x="1832828" y="1775387"/>
            <a:ext cx="175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729"/>
              <a:buFont typeface="Calibri"/>
              <a:buNone/>
              <a:defRPr/>
            </a:pPr>
            <a:r>
              <a:rPr lang="en-US" sz="1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→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3849802" name="Google Shape;252;p13"/>
          <p:cNvSpPr/>
          <p:nvPr/>
        </p:nvSpPr>
        <p:spPr bwMode="auto">
          <a:xfrm>
            <a:off x="2008488" y="1309886"/>
            <a:ext cx="1185599" cy="1405200"/>
          </a:xfrm>
          <a:prstGeom prst="roundRect">
            <a:avLst>
              <a:gd name="adj" fmla="val 5926"/>
            </a:avLst>
          </a:prstGeom>
          <a:solidFill>
            <a:srgbClr val="0D3B66"/>
          </a:solidFill>
          <a:ln w="18325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97589" dist="36596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2068904" name="Google Shape;253;p13"/>
          <p:cNvSpPr/>
          <p:nvPr/>
        </p:nvSpPr>
        <p:spPr bwMode="auto">
          <a:xfrm>
            <a:off x="2386156" y="1353801"/>
            <a:ext cx="438900" cy="351300"/>
          </a:xfrm>
          <a:prstGeom prst="ellipse">
            <a:avLst/>
          </a:prstGeom>
          <a:solidFill>
            <a:srgbClr val="0077B6"/>
          </a:solidFill>
          <a:ln w="122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72234860" name="Google Shape;254;p13"/>
          <p:cNvSpPr/>
          <p:nvPr/>
        </p:nvSpPr>
        <p:spPr bwMode="auto">
          <a:xfrm>
            <a:off x="2386156" y="1371367"/>
            <a:ext cx="438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49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4604926" name="Google Shape;255;p13"/>
          <p:cNvSpPr/>
          <p:nvPr/>
        </p:nvSpPr>
        <p:spPr bwMode="auto">
          <a:xfrm>
            <a:off x="2008488" y="1749037"/>
            <a:ext cx="1185599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KSniff captures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packets → PCAP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stored in PV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611982" name="Google Shape;256;p13"/>
          <p:cNvSpPr/>
          <p:nvPr/>
        </p:nvSpPr>
        <p:spPr bwMode="auto">
          <a:xfrm>
            <a:off x="3194191" y="1775387"/>
            <a:ext cx="175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729"/>
              <a:buFont typeface="Calibri"/>
              <a:buNone/>
              <a:defRPr/>
            </a:pPr>
            <a:r>
              <a:rPr lang="en-US" sz="1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→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8708619" name="Google Shape;257;p13"/>
          <p:cNvSpPr/>
          <p:nvPr/>
        </p:nvSpPr>
        <p:spPr bwMode="auto">
          <a:xfrm>
            <a:off x="3369850" y="1309886"/>
            <a:ext cx="1185599" cy="1405200"/>
          </a:xfrm>
          <a:prstGeom prst="roundRect">
            <a:avLst>
              <a:gd name="adj" fmla="val 5926"/>
            </a:avLst>
          </a:prstGeom>
          <a:solidFill>
            <a:srgbClr val="0D3B66"/>
          </a:solidFill>
          <a:ln w="18325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97589" dist="36596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350"/>
          </a:p>
        </p:txBody>
      </p:sp>
      <p:sp>
        <p:nvSpPr>
          <p:cNvPr id="1861030639" name="Google Shape;258;p13"/>
          <p:cNvSpPr/>
          <p:nvPr/>
        </p:nvSpPr>
        <p:spPr bwMode="auto">
          <a:xfrm>
            <a:off x="3747519" y="1353801"/>
            <a:ext cx="438900" cy="351300"/>
          </a:xfrm>
          <a:prstGeom prst="ellipse">
            <a:avLst/>
          </a:prstGeom>
          <a:solidFill>
            <a:srgbClr val="FFD166"/>
          </a:solidFill>
          <a:ln w="122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350"/>
          </a:p>
        </p:txBody>
      </p:sp>
      <p:sp>
        <p:nvSpPr>
          <p:cNvPr id="1564513732" name="Google Shape;259;p13"/>
          <p:cNvSpPr/>
          <p:nvPr/>
        </p:nvSpPr>
        <p:spPr bwMode="auto">
          <a:xfrm>
            <a:off x="3747519" y="1371367"/>
            <a:ext cx="438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49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3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6146" name="Google Shape;260;p13"/>
          <p:cNvSpPr/>
          <p:nvPr/>
        </p:nvSpPr>
        <p:spPr bwMode="auto">
          <a:xfrm>
            <a:off x="3369850" y="1749037"/>
            <a:ext cx="1185599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CICFlowMeter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extracts 80+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features → CSV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342053" name="Google Shape;261;p13"/>
          <p:cNvSpPr/>
          <p:nvPr/>
        </p:nvSpPr>
        <p:spPr bwMode="auto">
          <a:xfrm>
            <a:off x="4555553" y="1775387"/>
            <a:ext cx="175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729"/>
              <a:buFont typeface="Calibri"/>
              <a:buNone/>
              <a:defRPr/>
            </a:pPr>
            <a:r>
              <a:rPr lang="en-US" sz="1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→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7452318" name="Google Shape;262;p13"/>
          <p:cNvSpPr/>
          <p:nvPr/>
        </p:nvSpPr>
        <p:spPr bwMode="auto">
          <a:xfrm>
            <a:off x="4731213" y="1309886"/>
            <a:ext cx="1185599" cy="1405200"/>
          </a:xfrm>
          <a:prstGeom prst="roundRect">
            <a:avLst>
              <a:gd name="adj" fmla="val 5926"/>
            </a:avLst>
          </a:prstGeom>
          <a:solidFill>
            <a:srgbClr val="0D3B66"/>
          </a:solidFill>
          <a:ln w="18325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97589" dist="36596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07814332" name="Google Shape;263;p13"/>
          <p:cNvSpPr/>
          <p:nvPr/>
        </p:nvSpPr>
        <p:spPr bwMode="auto">
          <a:xfrm>
            <a:off x="5108881" y="1353801"/>
            <a:ext cx="438900" cy="351300"/>
          </a:xfrm>
          <a:prstGeom prst="ellipse">
            <a:avLst/>
          </a:prstGeom>
          <a:solidFill>
            <a:srgbClr val="00B4D8"/>
          </a:solidFill>
          <a:ln w="122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30024419" name="Google Shape;264;p13"/>
          <p:cNvSpPr/>
          <p:nvPr/>
        </p:nvSpPr>
        <p:spPr bwMode="auto">
          <a:xfrm>
            <a:off x="5108881" y="1371367"/>
            <a:ext cx="438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49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4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0085061" name="Google Shape;265;p13"/>
          <p:cNvSpPr/>
          <p:nvPr/>
        </p:nvSpPr>
        <p:spPr bwMode="auto">
          <a:xfrm>
            <a:off x="4731213" y="1749037"/>
            <a:ext cx="1185599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Model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3-class output: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SSRF/Recon/OK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2282670" name="Google Shape;266;p13"/>
          <p:cNvSpPr/>
          <p:nvPr/>
        </p:nvSpPr>
        <p:spPr bwMode="auto">
          <a:xfrm>
            <a:off x="5916916" y="1775387"/>
            <a:ext cx="175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729"/>
              <a:buFont typeface="Calibri"/>
              <a:buNone/>
              <a:defRPr/>
            </a:pPr>
            <a:r>
              <a:rPr lang="en-US" sz="1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→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7982450" name="Google Shape;267;p13"/>
          <p:cNvSpPr/>
          <p:nvPr/>
        </p:nvSpPr>
        <p:spPr bwMode="auto">
          <a:xfrm>
            <a:off x="6092576" y="1309886"/>
            <a:ext cx="1185599" cy="1405200"/>
          </a:xfrm>
          <a:prstGeom prst="roundRect">
            <a:avLst>
              <a:gd name="adj" fmla="val 5926"/>
            </a:avLst>
          </a:prstGeom>
          <a:solidFill>
            <a:srgbClr val="0D3B66"/>
          </a:solidFill>
          <a:ln w="18325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97589" dist="36596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53554581" name="Google Shape;268;p13"/>
          <p:cNvSpPr/>
          <p:nvPr/>
        </p:nvSpPr>
        <p:spPr bwMode="auto">
          <a:xfrm>
            <a:off x="6470244" y="1353801"/>
            <a:ext cx="438900" cy="351300"/>
          </a:xfrm>
          <a:prstGeom prst="ellipse">
            <a:avLst/>
          </a:prstGeom>
          <a:solidFill>
            <a:srgbClr val="06D6A0"/>
          </a:solidFill>
          <a:ln w="1220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57766911" name="Google Shape;269;p13"/>
          <p:cNvSpPr/>
          <p:nvPr/>
        </p:nvSpPr>
        <p:spPr bwMode="auto">
          <a:xfrm>
            <a:off x="6470244" y="1371367"/>
            <a:ext cx="438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49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5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6063510" name="Google Shape;270;p13"/>
          <p:cNvSpPr/>
          <p:nvPr/>
        </p:nvSpPr>
        <p:spPr bwMode="auto">
          <a:xfrm>
            <a:off x="6092576" y="1749037"/>
            <a:ext cx="1185599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Mutation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Webhook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redirects traffic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1669906" name="Google Shape;271;p13"/>
          <p:cNvSpPr/>
          <p:nvPr/>
        </p:nvSpPr>
        <p:spPr bwMode="auto">
          <a:xfrm>
            <a:off x="7278279" y="1775387"/>
            <a:ext cx="1758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729"/>
              <a:buFont typeface="Calibri"/>
              <a:buNone/>
              <a:defRPr/>
            </a:pPr>
            <a:r>
              <a:rPr lang="en-US" sz="175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→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2620271" name="Google Shape;272;p13"/>
          <p:cNvSpPr/>
          <p:nvPr/>
        </p:nvSpPr>
        <p:spPr bwMode="auto">
          <a:xfrm>
            <a:off x="7453938" y="1309886"/>
            <a:ext cx="1185599" cy="1405200"/>
          </a:xfrm>
          <a:prstGeom prst="roundRect">
            <a:avLst>
              <a:gd name="adj" fmla="val 5926"/>
            </a:avLst>
          </a:prstGeom>
          <a:solidFill>
            <a:srgbClr val="0D3B66"/>
          </a:solidFill>
          <a:ln w="18325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97589" dist="36596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87466450" name="Google Shape;273;p13"/>
          <p:cNvSpPr/>
          <p:nvPr/>
        </p:nvSpPr>
        <p:spPr bwMode="auto">
          <a:xfrm>
            <a:off x="7831607" y="1353801"/>
            <a:ext cx="438900" cy="351300"/>
          </a:xfrm>
          <a:prstGeom prst="ellipse">
            <a:avLst/>
          </a:prstGeom>
          <a:solidFill>
            <a:srgbClr val="06D6A0"/>
          </a:solidFill>
          <a:ln w="1220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800" tIns="87800" rIns="87800" bIns="87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00432903" name="Google Shape;274;p13"/>
          <p:cNvSpPr/>
          <p:nvPr/>
        </p:nvSpPr>
        <p:spPr bwMode="auto">
          <a:xfrm>
            <a:off x="7831607" y="1371367"/>
            <a:ext cx="438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49"/>
              <a:buFont typeface="Calibri"/>
              <a:buNone/>
              <a:defRPr/>
            </a:pPr>
            <a:r>
              <a:rPr lang="en-US" sz="1250" b="1" i="0" u="none" strike="noStrike" cap="none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3254567" name="Google Shape;275;p13"/>
          <p:cNvSpPr/>
          <p:nvPr/>
        </p:nvSpPr>
        <p:spPr bwMode="auto">
          <a:xfrm>
            <a:off x="7453938" y="1749037"/>
            <a:ext cx="1185599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Attacker trapped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 honeypot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1"/>
              <a:buFont typeface="Calibri"/>
              <a:buNone/>
              <a:defRPr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logged + analyzed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344683" name="Google Shape;276;p13"/>
          <p:cNvSpPr/>
          <p:nvPr/>
        </p:nvSpPr>
        <p:spPr bwMode="auto">
          <a:xfrm>
            <a:off x="928090" y="2829300"/>
            <a:ext cx="74760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800" tIns="43925" rIns="87800" bIns="43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5"/>
              <a:buFont typeface="Calibri"/>
              <a:buNone/>
              <a:defRPr/>
            </a:pPr>
            <a:r>
              <a:rPr lang="en-US" sz="13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Results — 2 Attack Types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864538446" name="Google Shape;277;p13"/>
          <p:cNvGraphicFramePr>
            <a:graphicFrameLocks xmlns:a="http://schemas.openxmlformats.org/drawingml/2006/main"/>
          </p:cNvGraphicFramePr>
          <p:nvPr/>
        </p:nvGraphicFramePr>
        <p:xfrm rot="0">
          <a:off x="905450" y="325972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{6F92E126-5F1E-486A-A37A-253A560D8639}</a:tableStyleId>
                <a:noFill/>
              </a:tblPr>
              <a:tblGrid>
                <a:gridCol w="2299550"/>
                <a:gridCol w="1725475"/>
                <a:gridCol w="1984325"/>
                <a:gridCol w="1466650"/>
              </a:tblGrid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A3055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SSRF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A3055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Reconnaissance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A3055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 / Combined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A3055"/>
                    </a:solidFill>
                  </a:tcPr>
                </a:tc>
              </a:tr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Detection Accuracy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89%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91%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90%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</a:tr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Recall Rate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99%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89%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94%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</a:tr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False Positive Rate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4.8%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6.5%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5.5%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</a:tr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Detection Latency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0.8s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1.2s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~1s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</a:tr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Decoy Success Rate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76%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78%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</a:tr>
              <a:tr h="241675"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Avg Engagement Time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470s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495s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D"/>
                        </a:buClr>
                        <a:buSzPts val="1100"/>
                        <a:buFont typeface="Calibri"/>
                        <a:buNone/>
                        <a:defRPr/>
                      </a:pPr>
                      <a:r>
                        <a:rPr lang="en-US" sz="1100" u="none" strike="noStrike" cap="none">
                          <a:solidFill>
                            <a:srgbClr val="E8F4FD"/>
                          </a:solidFill>
                          <a:latin typeface="Calibri"/>
                          <a:ea typeface="Calibri"/>
                          <a:cs typeface="Calibri"/>
                        </a:rPr>
                        <a:t>~482s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9525" algn="ctr">
                      <a:solidFill>
                        <a:srgbClr val="1A4A6A"/>
                      </a:solidFill>
                    </a:lnL>
                    <a:lnR w="9525" algn="ctr">
                      <a:solidFill>
                        <a:srgbClr val="1A4A6A"/>
                      </a:solidFill>
                    </a:lnR>
                    <a:lnT w="9525" algn="ctr">
                      <a:solidFill>
                        <a:srgbClr val="1A4A6A"/>
                      </a:solidFill>
                    </a:lnT>
                    <a:lnB w="9525" algn="ctr">
                      <a:solidFill>
                        <a:srgbClr val="1A4A6A"/>
                      </a:solidFill>
                    </a:lnB>
                    <a:solidFill>
                      <a:srgbClr val="0D3B66"/>
                    </a:solidFill>
                  </a:tcPr>
                </a:tc>
              </a:tr>
            </a:tbl>
          </a:graphicData>
        </a:graphic>
      </p:graphicFrame>
      <p:pic>
        <p:nvPicPr>
          <p:cNvPr id="1433052979" name="Google Shape;278;p13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533506" name="Google Shape;284;p14"/>
          <p:cNvSpPr/>
          <p:nvPr/>
        </p:nvSpPr>
        <p:spPr bwMode="auto">
          <a:xfrm>
            <a:off x="613650" y="164600"/>
            <a:ext cx="80730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  <a:defRPr/>
            </a:pPr>
            <a:r>
              <a:rPr lang="en-US" sz="24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7. Conclusion &amp; Lessons Learned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6578745" name="Google Shape;285;p14"/>
          <p:cNvSpPr/>
          <p:nvPr/>
        </p:nvSpPr>
        <p:spPr bwMode="auto">
          <a:xfrm>
            <a:off x="535550" y="734450"/>
            <a:ext cx="7843800" cy="35100"/>
          </a:xfrm>
          <a:prstGeom prst="rect">
            <a:avLst/>
          </a:prstGeom>
          <a:solidFill>
            <a:srgbClr val="0077B6"/>
          </a:solidFill>
          <a:ln w="121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125" tIns="87125" rIns="87125" bIns="87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44312044" name="Google Shape;286;p14"/>
          <p:cNvSpPr/>
          <p:nvPr/>
        </p:nvSpPr>
        <p:spPr bwMode="auto">
          <a:xfrm>
            <a:off x="613650" y="997696"/>
            <a:ext cx="3747600" cy="3921600"/>
          </a:xfrm>
          <a:prstGeom prst="roundRect">
            <a:avLst>
              <a:gd name="adj" fmla="val 1860"/>
            </a:avLst>
          </a:prstGeom>
          <a:solidFill>
            <a:srgbClr val="0D3B66"/>
          </a:solidFill>
          <a:ln w="12100" cap="flat" cmpd="sng">
            <a:solidFill>
              <a:srgbClr val="06D6A0"/>
            </a:solidFill>
            <a:prstDash val="solid"/>
            <a:round/>
            <a:headEnd type="none" w="sm" len="sm"/>
            <a:tailEnd type="none" w="sm" len="sm"/>
          </a:ln>
          <a:effectLst>
            <a:outerShdw blurRad="96834" dist="363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125" tIns="87125" rIns="87125" bIns="87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07936522" name="Google Shape;287;p14"/>
          <p:cNvSpPr/>
          <p:nvPr/>
        </p:nvSpPr>
        <p:spPr bwMode="auto">
          <a:xfrm>
            <a:off x="744376" y="1076132"/>
            <a:ext cx="34860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34"/>
              <a:buFont typeface="Calibri"/>
              <a:buNone/>
              <a:defRPr/>
            </a:pPr>
            <a:r>
              <a:rPr lang="en-US" sz="1350" b="1" i="0" u="none" strike="noStrike" cap="none">
                <a:solidFill>
                  <a:srgbClr val="06D6A0"/>
                </a:solidFill>
                <a:latin typeface="Calibri"/>
                <a:ea typeface="Calibri"/>
                <a:cs typeface="Calibri"/>
              </a:rPr>
              <a:t>Key Achievements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542421" name="Google Shape;288;p14"/>
          <p:cNvSpPr/>
          <p:nvPr/>
        </p:nvSpPr>
        <p:spPr bwMode="auto">
          <a:xfrm>
            <a:off x="744376" y="1494455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✓  End-to-end automated defense system in Kubernetes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8449771" name="Google Shape;289;p14"/>
          <p:cNvSpPr/>
          <p:nvPr/>
        </p:nvSpPr>
        <p:spPr bwMode="auto">
          <a:xfrm>
            <a:off x="744376" y="1930209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AI model detects 2 attack types: SSRF + Reconnaissance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1051465" name="Google Shape;290;p14"/>
          <p:cNvSpPr/>
          <p:nvPr/>
        </p:nvSpPr>
        <p:spPr bwMode="auto">
          <a:xfrm>
            <a:off x="744376" y="2365963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✓  99% SSRF recall — near-zero missed attacks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8556028" name="Google Shape;291;p14"/>
          <p:cNvSpPr/>
          <p:nvPr/>
        </p:nvSpPr>
        <p:spPr bwMode="auto">
          <a:xfrm>
            <a:off x="744376" y="2801717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91% Reconnaissance detection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0993450" name="Google Shape;292;p14"/>
          <p:cNvSpPr/>
          <p:nvPr/>
        </p:nvSpPr>
        <p:spPr bwMode="auto">
          <a:xfrm>
            <a:off x="744376" y="3237471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 Mutation Webhook replaces controller — faster &amp; event-driven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6642673" name="Google Shape;293;p14"/>
          <p:cNvSpPr/>
          <p:nvPr/>
        </p:nvSpPr>
        <p:spPr bwMode="auto">
          <a:xfrm>
            <a:off x="744376" y="3673225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✓  Real-time Streamlit monitoring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2969500" name="Google Shape;294;p14"/>
          <p:cNvSpPr/>
          <p:nvPr/>
        </p:nvSpPr>
        <p:spPr bwMode="auto">
          <a:xfrm>
            <a:off x="744376" y="4108979"/>
            <a:ext cx="3486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96"/>
              <a:buFont typeface="Calibri"/>
              <a:buNone/>
              <a:defRPr/>
            </a:pPr>
            <a:r>
              <a:rPr lang="en-US" sz="110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✓  Full RBAC-secured pipeline with audit logs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5614657" name="Google Shape;295;p14"/>
          <p:cNvSpPr/>
          <p:nvPr/>
        </p:nvSpPr>
        <p:spPr bwMode="auto">
          <a:xfrm>
            <a:off x="4709727" y="997696"/>
            <a:ext cx="3747600" cy="1917600"/>
          </a:xfrm>
          <a:prstGeom prst="roundRect">
            <a:avLst>
              <a:gd name="adj" fmla="val 3636"/>
            </a:avLst>
          </a:prstGeom>
          <a:solidFill>
            <a:srgbClr val="0D3B66"/>
          </a:solidFill>
          <a:ln w="121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  <a:effectLst>
            <a:outerShdw blurRad="96834" dist="363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125" tIns="87125" rIns="87125" bIns="87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24664544" name="Google Shape;296;p14"/>
          <p:cNvSpPr/>
          <p:nvPr/>
        </p:nvSpPr>
        <p:spPr bwMode="auto">
          <a:xfrm>
            <a:off x="4840453" y="1076132"/>
            <a:ext cx="34860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34"/>
              <a:buFont typeface="Calibri"/>
              <a:buNone/>
              <a:defRPr/>
            </a:pPr>
            <a:r>
              <a:rPr lang="en-US" sz="1350" b="1" i="0" u="none" strike="noStrik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Lessons Learned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3123510" name="Google Shape;297;p14"/>
          <p:cNvSpPr/>
          <p:nvPr/>
        </p:nvSpPr>
        <p:spPr bwMode="auto">
          <a:xfrm>
            <a:off x="4840453" y="1494455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Webhooks &gt; Controllers — event-driven beats polling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3063067" name="Google Shape;298;p14"/>
          <p:cNvSpPr/>
          <p:nvPr/>
        </p:nvSpPr>
        <p:spPr bwMode="auto">
          <a:xfrm>
            <a:off x="4840453" y="1860489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Multi-class detection is more realistic than binary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3470740" name="Google Shape;299;p14"/>
          <p:cNvSpPr/>
          <p:nvPr/>
        </p:nvSpPr>
        <p:spPr bwMode="auto">
          <a:xfrm>
            <a:off x="4840453" y="2226522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Recall &gt; Precision — missed attacks cost more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2742820" name="Google Shape;300;p14"/>
          <p:cNvSpPr/>
          <p:nvPr/>
        </p:nvSpPr>
        <p:spPr bwMode="auto">
          <a:xfrm>
            <a:off x="4840453" y="2592555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Deception + detection together outperform either alone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7764077" name="Google Shape;301;p14"/>
          <p:cNvSpPr/>
          <p:nvPr/>
        </p:nvSpPr>
        <p:spPr bwMode="auto">
          <a:xfrm>
            <a:off x="4709727" y="3002164"/>
            <a:ext cx="3747600" cy="1917600"/>
          </a:xfrm>
          <a:prstGeom prst="roundRect">
            <a:avLst>
              <a:gd name="adj" fmla="val 3636"/>
            </a:avLst>
          </a:prstGeom>
          <a:solidFill>
            <a:srgbClr val="0D3B66"/>
          </a:solidFill>
          <a:ln w="121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96834" dist="36313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87125" tIns="87125" rIns="87125" bIns="871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20102466" name="Google Shape;302;p14"/>
          <p:cNvSpPr/>
          <p:nvPr/>
        </p:nvSpPr>
        <p:spPr bwMode="auto">
          <a:xfrm>
            <a:off x="4840453" y="3080599"/>
            <a:ext cx="3486000" cy="3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334"/>
              <a:buFont typeface="Calibri"/>
              <a:buNone/>
              <a:defRPr/>
            </a:pPr>
            <a:r>
              <a:rPr lang="en-US" sz="1350" b="1" i="0" u="none" strike="noStrike" cap="none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Future Work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526594" name="Google Shape;303;p14"/>
          <p:cNvSpPr/>
          <p:nvPr/>
        </p:nvSpPr>
        <p:spPr bwMode="auto">
          <a:xfrm>
            <a:off x="4840453" y="3498923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Expand to more attack classes (privilege escalation, DoS)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9977855" name="Google Shape;304;p14"/>
          <p:cNvSpPr/>
          <p:nvPr/>
        </p:nvSpPr>
        <p:spPr bwMode="auto">
          <a:xfrm>
            <a:off x="4840453" y="3864956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Automated model retraining pipeline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431640" name="Google Shape;305;p14"/>
          <p:cNvSpPr/>
          <p:nvPr/>
        </p:nvSpPr>
        <p:spPr bwMode="auto">
          <a:xfrm>
            <a:off x="4840453" y="4230990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SIEM integration (Splunk / Elastic)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4966802" name="Google Shape;306;p14"/>
          <p:cNvSpPr/>
          <p:nvPr/>
        </p:nvSpPr>
        <p:spPr bwMode="auto">
          <a:xfrm>
            <a:off x="4840453" y="4597023"/>
            <a:ext cx="34860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125" tIns="43550" rIns="87125" bIns="435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48"/>
              <a:buFont typeface="Calibri"/>
              <a:buNone/>
              <a:defRPr/>
            </a:pPr>
            <a:r>
              <a:rPr lang="en-US" sz="1050" b="0" i="0" u="none" strike="noStrike" cap="none">
                <a:solidFill>
                  <a:srgbClr val="E8F4FD"/>
                </a:solidFill>
                <a:latin typeface="Calibri"/>
                <a:ea typeface="Calibri"/>
                <a:cs typeface="Calibri"/>
              </a:rPr>
              <a:t>→  Zero-day detection with autoencoders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22221707" name="Google Shape;307;p14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595425" y="82450"/>
            <a:ext cx="502900" cy="5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A162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841017" name="Google Shape;313;p15"/>
          <p:cNvSpPr/>
          <p:nvPr/>
        </p:nvSpPr>
        <p:spPr bwMode="auto"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00936822" name="Google Shape;314;p15"/>
          <p:cNvSpPr/>
          <p:nvPr/>
        </p:nvSpPr>
        <p:spPr bwMode="auto"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430997401" name="Google Shape;315;p15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3886200" y="640074"/>
            <a:ext cx="1537626" cy="153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9619442" name="Google Shape;316;p15"/>
          <p:cNvSpPr/>
          <p:nvPr/>
        </p:nvSpPr>
        <p:spPr bwMode="auto">
          <a:xfrm>
            <a:off x="1371600" y="2578600"/>
            <a:ext cx="6400800" cy="1371600"/>
          </a:xfrm>
          <a:prstGeom prst="roundRect">
            <a:avLst>
              <a:gd name="adj" fmla="val 6667"/>
            </a:avLst>
          </a:prstGeom>
          <a:solidFill>
            <a:srgbClr val="0D3B66"/>
          </a:solidFill>
          <a:ln w="12700" cap="flat" cmpd="sng">
            <a:solidFill>
              <a:srgbClr val="0077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/>
            </a:pPr>
            <a:r>
              <a:rPr lang="en-US" sz="4000" b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Thank You</a:t>
            </a:r>
            <a:endParaRPr/>
          </a:p>
        </p:txBody>
      </p:sp>
      <p:pic>
        <p:nvPicPr>
          <p:cNvPr id="2147237310" name="Google Shape;317;p15" descr="preencoded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651211" y="154539"/>
            <a:ext cx="453125" cy="4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